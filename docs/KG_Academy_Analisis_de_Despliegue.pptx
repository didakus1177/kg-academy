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056" y="141732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ANÁLISIS TÉCNICO  ·  VERSIÓN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DONDE DESPLEGAR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8FBF16"/>
                </a:solidFill>
                <a:latin typeface="Segoe UI"/>
              </a:rPr>
              <a:t>KG Academy en producción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1371600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5D5E5"/>
                </a:solidFill>
                <a:latin typeface="Segoe UI"/>
              </a:rPr>
              <a:t>Comparacion de seis alternativas de alojamiento con costos, riesgos y esfuerzo de administración, una recomendación argumentada y el plan de puesta en producción paso a paso.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KG GESTIÓN INTEGRAL S.A.S.  ·  KATERINE GUAÑARITA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8FBF16"/>
                </a:solidFill>
                <a:latin typeface="Segoe UI"/>
              </a:rPr>
              <a:t>Realizado por Diego Alejandro Hernández Blanco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C8C"/>
                </a:solidFill>
                <a:latin typeface="Segoe UI"/>
              </a:rPr>
              <a:t>Bogotá D.C., Colombia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PUNTO DE PARTIDA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Que necesita esta aplicación para funcionar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Antes de comparar proveedores hay que fijar los requisitos reales. Estos cinco son innegociables.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7680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841248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64792"/>
            <a:ext cx="7223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Proceso Node.js permanente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>
                <a:solidFill>
                  <a:srgbClr val="6B7C8C"/>
                </a:solidFill>
                <a:latin typeface="Segoe UI"/>
              </a:rPr>
              <a:t>KG Academy renderiza en el servidor. Necesita un proceso Node encendido 24/7, no solo archivos HTML servidos por Apache.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7680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60320"/>
            <a:ext cx="82296" cy="84124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679192"/>
            <a:ext cx="7223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Base de datos PostgreSQL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>
                <a:solidFill>
                  <a:srgbClr val="6B7C8C"/>
                </a:solidFill>
                <a:latin typeface="Segoe UI"/>
              </a:rPr>
              <a:t>Relacional, con 44 tablas e integridad referencial. MySQL también serviria, pero PostgreSQL es la eleccion recomendada.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4720"/>
            <a:ext cx="7680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82296" cy="84124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593592"/>
            <a:ext cx="7223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HTTPS con dominio propio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>
                <a:solidFill>
                  <a:srgbClr val="6B7C8C"/>
                </a:solidFill>
                <a:latin typeface="Segoe UI"/>
              </a:rPr>
              <a:t>Las cookies de sesión y los códigos QR de los certificados dependen del dominio definitivo. Sin SSL no hay plataforma.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7680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89120"/>
            <a:ext cx="82296" cy="841248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07992"/>
            <a:ext cx="7223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Almacenamiento de video externo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>
                <a:solidFill>
                  <a:srgbClr val="6B7C8C"/>
                </a:solidFill>
                <a:latin typeface="Segoe UI"/>
              </a:rPr>
              <a:t>El video NO debe servirse desde el servidor de la aplicación: consume todo el ancho de banda y degrada la plataforma.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3520"/>
            <a:ext cx="76809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303520"/>
            <a:ext cx="82296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422392"/>
            <a:ext cx="72237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Respaldos automáticos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>
                <a:solidFill>
                  <a:srgbClr val="6B7C8C"/>
                </a:solidFill>
                <a:latin typeface="Segoe UI"/>
              </a:rPr>
              <a:t>La base contiene la evidencia de capacitación. Perderla es perder los certificados y la trazabilidad ante una auditoría.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645920"/>
            <a:ext cx="3127248" cy="420624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1828800"/>
            <a:ext cx="2697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DIMENSIONAMIENTO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Usuarios esperados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100 a 1.000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Concurrencia realista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20 a 50 simultaneos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Recursos suficientes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8FBF16"/>
                </a:solidFill>
                <a:latin typeface="Segoe UI"/>
              </a:rPr>
              <a:t>2 vCPU · 8 GB RAM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Con ese tamaño sobra holgadamente para el primer año.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60807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6190488"/>
            <a:ext cx="1060704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El documento funcional de KG indica 'despliegue por medio de Hostinger'. Ese requisito se respeta en la recomendación, pero conviene saber que plan de Hostinger sirve y cuál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ADVERTENCIA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Por que el hosting compartido NO sirve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Es el error más comun y el más caro de descubrir tarde. Aplica a Hostinger y a cualquier proveedor.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HOSTING COMPARTIDO  ·  NO VIABLE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368296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0428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Esta pensado para PHP y WordPress, no para procesos Node permanentes.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85292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8892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Normalmente solo ofrece MySQL; no hay PostgreSQL gestionado.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33756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7355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El proceso se reinicia o se suspende por límites de CPU y memoria.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22192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58184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No hay acceso de consola para PM2, migraciones ni tareas programadas.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06824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4281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Si se sube la aplicación como sitio estático, dejan de funcionar el login, la base de datos y los certificados.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4592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16459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0A2D4D"/>
                </a:solidFill>
                <a:latin typeface="Segoe UI"/>
              </a:rPr>
              <a:t>LO QUE SI SIRVE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2368296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304288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Un VPS (servidor virtual) con acceso root: Hostinger VPS, DigitalOcean, Hetzner.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2971800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907792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Una plataforma gestionada para Node: Vercel, Railway, Render.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3575304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11296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PostgreSQL propio en el VPS o gestionado: Neon, Supabase, el del proveedor.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4178808"/>
            <a:ext cx="146304" cy="146304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114800"/>
            <a:ext cx="4709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>
                <a:solidFill>
                  <a:srgbClr val="334455"/>
                </a:solidFill>
                <a:latin typeface="Segoe UI"/>
              </a:rPr>
              <a:t>Cualquiera de las dos rutas cumple; cambian el costo y quién administra.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2064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23036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Si KG ya contrato un plan de hosting compartido en Hostinger, ese plan puede seguir usandose para el sitio corporativo y el correo, pero la plataforma necesita además un VPS.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5216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961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Un servidor propio dentro de las oficinas de KG tampoco se recomienda: exige IP fija, UPS, certificados, actualizaciones de seguridad y disponibilidad 24/7 que una PYME no puede sostener.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COMPARACION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Las seis alternativas evaluadas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Costos aproximados en dolares por mes. Verificar el precio vigente al momento de contratar.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27632"/>
          <a:ext cx="11064237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69"/>
                <a:gridCol w="1202634"/>
                <a:gridCol w="1683688"/>
                <a:gridCol w="881932"/>
                <a:gridCol w="1362986"/>
                <a:gridCol w="3527728"/>
              </a:tblGrid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Alternativa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Costo / mes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Esfuerzo de administración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Veredicto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Comentario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Hostinger  ·  Hosting compartido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US$ 3 - 10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aplica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Muy bajo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VIABLE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ejecuta Next.js con renderizado en servidor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Hostinger  ·  VPS KVM 2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US$ 8 - 18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RECOMENDADO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Cumple el requisito del documento, costo bajo y control total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Vercel + Neon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US$ 20 - 40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Muy bajo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ALTERNATIVA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Cero administración, ideal para Next.js, costo recurrente mayor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Railway o Render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US$ 14 - 30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Bajo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ALTERNATIVA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App y base de datos en el mismo proveedor, despliegue simple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DigitalOcean o Hetzner VPS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US$ 6 - 15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Medio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EQUIVALENTE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Mismo esquema que el VPS de Hostinger, a veces más potencia por el precio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A2D4D"/>
                          </a:solidFill>
                          <a:latin typeface="Segoe UI"/>
                        </a:rPr>
                        <a:t>Servidor propio en KG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Muy alto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NO RECOMENDADO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4455"/>
                          </a:solidFill>
                          <a:latin typeface="Segoe UI"/>
                        </a:rPr>
                        <a:t>Requiere IP fija, UPS, seguridad física y soporte 24/7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57784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568756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Los precios son ordenes de magnitud a 2026 y varian con promociones y plazo de contratacion. El costo del dominio (.co, aproximadamente US$ 25 al año) es aparte en todas las opciones.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CRITERIOS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Como se tomo la decision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Cinco criterios, ponderados según la realidad de KG: una PYME que lanza su primer producto digital.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69494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82296" cy="786384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Costo recurrente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Debe caber en el presupuesto de una PYME sin comprometer el proyecto.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65376"/>
            <a:ext cx="777240" cy="38404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A2D4D"/>
                </a:solidFill>
                <a:latin typeface="Segoe UI"/>
              </a:rPr>
              <a:t>30 %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69494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82296" cy="786384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4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Esfuerzo de administración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KG no tiene un área de sistemas dedicada al mantenimiento del servidor.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25 %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19856"/>
            <a:ext cx="69494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82296" cy="786384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8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Cumplir el requisito del cliente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El documento funcional pide explicitamente Hostinger.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621024"/>
            <a:ext cx="777240" cy="38404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20 %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97680"/>
            <a:ext cx="69494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297680"/>
            <a:ext cx="82296" cy="786384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Control y portabilidad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Poder migrar sin reescribir la aplicación ni quedar atado al proveedor.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498848"/>
            <a:ext cx="777240" cy="384048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15 %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694944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175504"/>
            <a:ext cx="82296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94376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Latencia desde Colombia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Elegir el centro de datos más cercano disponible marca la diferencia.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5376672"/>
            <a:ext cx="777240" cy="384048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664208"/>
            <a:ext cx="3858768" cy="3749039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1847088"/>
            <a:ext cx="3383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CONCLUSION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000" b="0">
                <a:solidFill>
                  <a:srgbClr val="FFFFFF"/>
                </a:solidFill>
                <a:latin typeface="Segoe UI"/>
              </a:rPr>
              <a:t>El VPS de Hostinger gana porque es el único que satisface a la vez los tres criterios de mayor peso: es el más economico de los viables, respeta el requisito del documento y no ata la plataforma a un proveedor.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7C8C"/>
                </a:solidFill>
                <a:latin typeface="Segoe UI"/>
              </a:rPr>
              <a:t>Su única debilidad es el esfuerzo de administración, y se compensa dejando el servidor configurado, documentado y con respaldos automáticos desde el primer día.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1264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623620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Si KG prefiere no administrar ningún servidor, la segunda opcion es Vercel + Neon: cuesta aproximadamente el doble al mes pero elimina por completo el mantenimiento.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RECOMENDACIÓN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Arquitectura recomendada para el lanzamiento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Hostinger VPS KVM 2, centro de datos más cercano disponible (EE.UU. este o Sao Paulo).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7393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0A2D4D"/>
                </a:solidFill>
                <a:latin typeface="Segoe UI"/>
              </a:rPr>
              <a:t>Trabajadores, empresas y KG  ·  navegador web  ·  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2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DOMINIO Y SSL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0545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kgacademy.co  ·  certificado Let's Encrypt con renovacion automática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090672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3697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Proxy inverso en los puertos 80 y 443  ·  compresion  ·  cabeceras de seguridad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822191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07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APLICACIÓN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6849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Next.js en producción  ·  proceso Node gestionado por PM2  ·  reinicio automático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4553712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BASE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0001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PostgreSQL 16 en el mismo VPS  ·  solo accesible desde localhost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627632"/>
            <a:ext cx="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5285231"/>
            <a:ext cx="7589520" cy="65836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9495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FBF16"/>
                </a:solidFill>
                <a:latin typeface="Segoe UI"/>
              </a:rPr>
              <a:t>RESPALDOS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43153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pg_dump diario por cron  ·  retencion 30 días  ·  copia fuera del servidor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1627632"/>
            <a:ext cx="3218688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1627632"/>
            <a:ext cx="3218688" cy="457200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SERVICIOS EXTERNOS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13648" y="2240280"/>
            <a:ext cx="283464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2331720"/>
            <a:ext cx="2514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Video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6B7C8C"/>
                </a:solidFill>
                <a:latin typeface="Segoe UI"/>
              </a:rPr>
              <a:t>Vimeo o Bunny Stream. Nunca desde el VPS.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3648" y="2990088"/>
            <a:ext cx="283464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3081528"/>
            <a:ext cx="2514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Interactivos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6B7C8C"/>
                </a:solidFill>
                <a:latin typeface="Segoe UI"/>
              </a:rPr>
              <a:t>Genially, embebido por URL.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3739896"/>
            <a:ext cx="283464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3831335"/>
            <a:ext cx="2514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Correo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6B7C8C"/>
                </a:solidFill>
                <a:latin typeface="Segoe UI"/>
              </a:rPr>
              <a:t>Brevo o Resend, capa gratuita suficiente al inicio.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13648" y="4489704"/>
            <a:ext cx="283464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96528" y="4581144"/>
            <a:ext cx="2514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Monitoreo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6B7C8C"/>
                </a:solidFill>
                <a:latin typeface="Segoe UI"/>
              </a:rPr>
              <a:t>UptimeRobot, avisa si el sitio cae.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8" y="5239512"/>
            <a:ext cx="283464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528" y="5330952"/>
            <a:ext cx="2514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Copia externa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6B7C8C"/>
                </a:solidFill>
                <a:latin typeface="Segoe UI"/>
              </a:rPr>
              <a:t>Backblaze B2 o Google Drive.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61264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623620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PostgreSQL escuchando solo en localhost es una decision de seguridad deliberada: la base nunca queda expuesta a internet, solo la alcanza la aplicación que corre en el mismo servidor.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COSTOS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Cuanto cuesta sostener la plataforma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Comparacion de las dos rutas recomendadas. Valores aproximados; confirmar al contratar.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27632"/>
          <a:ext cx="11064237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198"/>
                <a:gridCol w="2141465"/>
                <a:gridCol w="2141465"/>
                <a:gridCol w="3569109"/>
              </a:tblGrid>
              <a:tr h="32918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Concepto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Ruta A  ·  VPS Hostinger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Ruta B  ·  Vercel + Neon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 que sirve</a:t>
                      </a:r>
                    </a:p>
                  </a:txBody>
                  <a:tcPr marL="64008" marR="64008" anchor="ctr">
                    <a:solidFill>
                      <a:srgbClr val="0A2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VPS Hostinger KVM 2 (2 vCPU / 8 GB)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US$ 8 - 18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Incluido en Vercel + Neon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Servidor de aplicación y base de datos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Plataforma gestionada (Vercel Pro)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No aplica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US$ 20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Alojamiento de la aplicación sin administración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PostgreSQL gestionado (Neon)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No aplica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US$ 0 - 19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Base de datos con respaldos automáticos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Dominio .co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US$ 2 (25 al año)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US$ 2 (25 al año)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Direccion definitiva de la plataforma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Certificado SSL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Let's Encrypt o incluido en la plataforma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Alojamiento de video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US$ 0 - 12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US$ 0 - 12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Vimeo o Bunny Stream según consumo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Correo transaccional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Capa gratuita de Brevo o Resend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Monitoreo y respaldo externo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US$ 0 - 2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US$ 0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UptimeRobot y almacenamiento de copias</a:t>
                      </a:r>
                    </a:p>
                  </a:txBody>
                  <a:tcPr marL="64008" marR="64008" marT="18288" marB="18288" anchor="ctr"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A2D4D"/>
                          </a:solidFill>
                          <a:latin typeface="Segoe UI"/>
                        </a:rPr>
                        <a:t>TOTAL MENSUAL APROXIMADO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US$ 10 - 34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US$ 22 - 53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Segoe UI"/>
                        </a:rPr>
                        <a:t>Equivale a $45.000 - $150.000 COP / mes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94360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605332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diferencia real entre las dos rutas no es el dinero, es el tiempo: la ruta A exige unas 2 horas al mes de mantenimiento (actualizaciones y revisión de respaldos); la ruta B, practicamente ninguna.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DECISION APARTE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Donde alojar el video de los cursos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Es la decision técnica que más impacta el costo y la experiencia. Merece análisis propio.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9222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En el mismo VPS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6537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92224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19" b="0">
                <a:solidFill>
                  <a:srgbClr val="334455"/>
                </a:solidFill>
                <a:latin typeface="Segoe UI"/>
              </a:rPr>
              <a:t>Un video de 200 MB visto por 50 personas consume 10 GB de trafico. Satura el servidor y deja la plataforma lenta para todos.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603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560320"/>
            <a:ext cx="82296" cy="822960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YouTube no listado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77977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VIABLE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706624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19" b="0">
                <a:solidFill>
                  <a:srgbClr val="334455"/>
                </a:solidFill>
                <a:latin typeface="Segoe UI"/>
              </a:rPr>
              <a:t>Gratis e ilimitado. Contras: muestra recomendaciones al final, la marca de YouTube y no impide que alguien comparta el enlace.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747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74720"/>
            <a:ext cx="82296" cy="82296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Vimeo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9417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A2D4D"/>
                </a:solidFill>
                <a:latin typeface="Segoe UI"/>
              </a:rPr>
              <a:t>RECOMENDADO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621024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19" b="0">
                <a:solidFill>
                  <a:srgbClr val="334455"/>
                </a:solidFill>
                <a:latin typeface="Segoe UI"/>
              </a:rPr>
              <a:t>Reproductor limpio y personalizable con la marca KG, control de dominio desde el que se puede reproducir, estadisticas. Desde unos US$ 12 al 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389120"/>
            <a:ext cx="82296" cy="82296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3542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Bunny Stream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60857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0A2D4D"/>
                </a:solidFill>
                <a:latin typeface="Segoe UI"/>
              </a:rPr>
              <a:t>RECOMENDADO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535424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19" b="0">
                <a:solidFill>
                  <a:srgbClr val="334455"/>
                </a:solidFill>
                <a:latin typeface="Segoe UI"/>
              </a:rPr>
              <a:t>Muy economico, se paga por consumo real, red de distribución rápida en Latinoamerica y reproductor propio.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0352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303520"/>
            <a:ext cx="82296" cy="822960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982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2D4D"/>
                </a:solidFill>
                <a:latin typeface="Segoe UI"/>
              </a:rPr>
              <a:t>Genially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5522976"/>
            <a:ext cx="1371600" cy="365760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COMPLEMENTARIO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449824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19" b="0">
                <a:solidFill>
                  <a:srgbClr val="334455"/>
                </a:solidFill>
                <a:latin typeface="Segoe UI"/>
              </a:rPr>
              <a:t>Para los recursos interactivos, no para el video pesado. Ya esta contemplado en la plataforma como tipo de contenido.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2636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637336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plataforma ya soporta las cuatro opciones: en el constructor se elige el tipo de contenido y se pega la URL. Cambiar de proveedor de video más adelante no exige tocar el código.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CUMPLIMIENTO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Datos personales y respaldos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Dos temas que suelen olvidarse hasta que hay una auditoría o una perdida de información.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PROTECCIÓN DE DATOS  ·  LEY 1581 DE 2012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Los datos saldran del pais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Ninguna de las alternativas viables tiene centro de datos en Colombia.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16936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ley lo permite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Con autorizacion expresa del titular o con un contrato de transmision de datos con el proveedor.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02152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75304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Ya esta implementado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El registro exige la autorizacion y guarda la fecha exacta en que se otorgo.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87368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Falta formalizar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Firmar el acuerdo de tratamiento de datos que ofrece el proveedor y publicar la politica de privacidad.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72583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45736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Validar con juridico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La redaccion final de la politica debe revisarla el asesor juridico de KG.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6459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1645920"/>
            <a:ext cx="5394960" cy="50292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0A2D4D"/>
                </a:solidFill>
                <a:latin typeface="Segoe UI"/>
              </a:rPr>
              <a:t>POLITICA DE RESPALDOS PROPUESTA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331720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404872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Diario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pg_dump automático a la 1:00 a.m., comprimido.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916936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990088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Retencion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30 copias diarias en el servidor.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502152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575304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Fuera del servidor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Copia semanal a Backblaze B2 o Google Drive.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087368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160520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Snapshot del VPS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Semanal, para restaurar el servidor completo.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72583"/>
            <a:ext cx="4974336" cy="530352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745736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Prueba de restauracion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9" b="0">
                <a:solidFill>
                  <a:srgbClr val="6B7C8C"/>
                </a:solidFill>
                <a:latin typeface="Segoe UI"/>
              </a:rPr>
              <a:t>Cada tres meses, restaurar en un ambiente de prueba.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4406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55040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Un respaldo que nunca se ha restaurado no es un respaldo: es una suposicion. Por eso la prueba trimestral.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053328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6163056"/>
            <a:ext cx="1060704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Sin respaldos, perder la base significa perder los certificados emitidos y toda la trazabilidad de capacitación que la empresa debe demostrar ante la ARL.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EJECUCION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Plan de puesta en producción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Doce pasos. Un día de trabajo técnico si el dominio ya está disponible.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74650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46504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Contratar VPS y dominio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Ubuntu 24.04. Apuntar los registros DNS al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45920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1746504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46504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Asegurar el servidor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Usuario sin privilegios de root, firewall abierto solo en 22, 80 y 443.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04872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50545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05456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Instalar el entorno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Node.js 20, PostgreSQL 16, Nginx y PM2.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404872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3952" y="2505456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505456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Crear la base de datos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Usuario y base dedicados, escuchando solo en localhost.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63824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264408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264408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Subir el código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Clonar el repositorio en el servidor.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163824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3952" y="3264408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264408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Configurar el .env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AUTH_SECRET nuevo y largo, DATABASE_URL y NEXT_PUBLIC_APP_URL con el dominio real.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22776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" y="4023360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023360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Cambiar el motor en Prisma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provider = postgresql y ejecutar prisma migrate deploy.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3922776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3952" y="4023360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023360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Cargar los catálogos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Roles, permisos, plantillas y configuración. NO el seed de demostración.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681728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3232" y="478231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782312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Compilar y levantar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npm run build y arrancar con PM2 con reinicio automático.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4681728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73952" y="4782312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782312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Publicar con Nginx y SSL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Proxy inverso al puerto 3000 y certificado con Certbot.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440679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5541263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541263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Activar respaldos y monitoreo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Cron de pg_dump, copia externa y UptimeRobot.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7648" y="5440679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73952" y="5541263"/>
            <a:ext cx="457200" cy="457200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A2D4D"/>
                </a:solidFill>
                <a:latin typeface="Segoe U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541263"/>
            <a:ext cx="4526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Pruebas de aceptacion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6B7C8C"/>
                </a:solidFill>
                <a:latin typeface="Segoe UI"/>
              </a:rPr>
              <a:t>Ingreso por cada rol, aula, evaluación, certificado y QR con el dominio real.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62636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637336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Paso 8, critico: el seed actual BORRA la base antes de sembrar. En producción debe ejecutarse solo la parte de catálogos, nunca el seed completo después del lanzamiento.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EJECUCION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Detalles que suelen costar caro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Errores frecuentes en el paso a producción, y como evitarlos en este proyecto concreto.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82296" cy="1298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El QR apunta a localhost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Si NEXT_PUBLIC_APP_URL no tiene el dominio definitivo ANTES de emitir el primer certificado, los QR quedaran apuntando a localhost y habrá que reemitirlos.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4592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645920"/>
            <a:ext cx="82296" cy="1298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La clave de sesión por defecto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AUTH_SECRET debe cambiarse por una cadena larga y aleatoria. Con la clave de ejemplo, cualquiera podria falsificar una sesión.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108960"/>
            <a:ext cx="82296" cy="12984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Ejecutar el seed en producción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Borraria usuarios, avances y certificados reales. Debe deshabilitarse el comando en el servidor productivo.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10896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3108960"/>
            <a:ext cx="82296" cy="1298448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No tener ambiente de pruebas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Todo cambio deberia probarse en un subdominio de staging antes de tocar producción. Un segundo VPS pequeño o un subdominio en el mismo servidor.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572000"/>
            <a:ext cx="82296" cy="1298448"/>
          </a:xfrm>
          <a:prstGeom prst="rect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Olvidar la zona horaria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Configurar el servidor en America/Bogotá para que las fechas de los certificados y los vencimientos coincidan con la realidad.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4572000"/>
            <a:ext cx="548640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4572000"/>
            <a:ext cx="82296" cy="1298448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6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1">
                <a:solidFill>
                  <a:srgbClr val="0A2D4D"/>
                </a:solidFill>
                <a:latin typeface="Segoe UI"/>
              </a:rPr>
              <a:t>No documentar los accesos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6B7C8C"/>
                </a:solidFill>
                <a:latin typeface="Segoe UI"/>
              </a:rPr>
              <a:t>Entregar a KG las credenciales del VPS, del dominio, de la base y del repositorio. El punto 25 del esqueleto lo exige explicitamente.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FUTURO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Qué hacer cuando la plataforma crezca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Señales concretas para saber cuando conviene cambiar de escalon, y a que escalon pasar.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26334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45920"/>
            <a:ext cx="2633472" cy="566928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0A2D4D"/>
                </a:solidFill>
                <a:latin typeface="Segoe UI"/>
              </a:rPr>
              <a:t>HOY  ·  hasta 1.000 usuarios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41448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Un VPS con la aplicación y PostgreSQL juntos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154679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Respaldos diarios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67912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Monitoreo básico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81144"/>
            <a:ext cx="82296" cy="822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17136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Costo aproximado: US$ 10 - 34 al 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1645920"/>
            <a:ext cx="26334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10712" y="1645920"/>
            <a:ext cx="2633472" cy="566928"/>
          </a:xfrm>
          <a:prstGeom prst="roundRect">
            <a:avLst>
              <a:gd name="adj" fmla="val 6000"/>
            </a:avLst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0A2D4D"/>
                </a:solidFill>
                <a:latin typeface="Segoe UI"/>
              </a:rPr>
              <a:t>SEÑAL DE CAMBIO</a:t>
            </a:r>
          </a:p>
        </p:txBody>
      </p:sp>
      <p:sp>
        <p:nvSpPr>
          <p:cNvPr id="20" name="Oval 19"/>
          <p:cNvSpPr/>
          <p:nvPr/>
        </p:nvSpPr>
        <p:spPr>
          <a:xfrm>
            <a:off x="3575304" y="2441448"/>
            <a:ext cx="82296" cy="82296"/>
          </a:xfrm>
          <a:prstGeom prst="ellipse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8184" y="237744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El servidor supera el 70 % de CPU o memoria de forma sostenida</a:t>
            </a:r>
          </a:p>
        </p:txBody>
      </p:sp>
      <p:sp>
        <p:nvSpPr>
          <p:cNvPr id="22" name="Oval 21"/>
          <p:cNvSpPr/>
          <p:nvPr/>
        </p:nvSpPr>
        <p:spPr>
          <a:xfrm>
            <a:off x="3575304" y="3154679"/>
            <a:ext cx="82296" cy="82296"/>
          </a:xfrm>
          <a:prstGeom prst="ellipse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8184" y="309067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Las páginas tardan más de 2 segundos</a:t>
            </a:r>
          </a:p>
        </p:txBody>
      </p:sp>
      <p:sp>
        <p:nvSpPr>
          <p:cNvPr id="24" name="Oval 23"/>
          <p:cNvSpPr/>
          <p:nvPr/>
        </p:nvSpPr>
        <p:spPr>
          <a:xfrm>
            <a:off x="3575304" y="3867912"/>
            <a:ext cx="82296" cy="82296"/>
          </a:xfrm>
          <a:prstGeom prst="ellipse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8184" y="3803904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Más de 100 usuarios simultaneos</a:t>
            </a:r>
          </a:p>
        </p:txBody>
      </p:sp>
      <p:sp>
        <p:nvSpPr>
          <p:cNvPr id="26" name="Oval 25"/>
          <p:cNvSpPr/>
          <p:nvPr/>
        </p:nvSpPr>
        <p:spPr>
          <a:xfrm>
            <a:off x="3575304" y="4581144"/>
            <a:ext cx="82296" cy="82296"/>
          </a:xfrm>
          <a:prstGeom prst="ellipse">
            <a:avLst/>
          </a:prstGeom>
          <a:solidFill>
            <a:srgbClr val="B4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4" y="4517136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La base supera los 20 GB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1645920"/>
            <a:ext cx="26334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4496" y="1645920"/>
            <a:ext cx="2633472" cy="56692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SIGUIENTE ESCALON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2441448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237744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Separar la base de datos en su propio servidor gestionado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3154679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309067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Subir el VPS a 4 vCPU / 16 GB</a:t>
            </a:r>
          </a:p>
        </p:txBody>
      </p:sp>
      <p:sp>
        <p:nvSpPr>
          <p:cNvPr id="34" name="Oval 33"/>
          <p:cNvSpPr/>
          <p:nvPr/>
        </p:nvSpPr>
        <p:spPr>
          <a:xfrm>
            <a:off x="6419088" y="3867912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803904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Agregar una CDN para los archivos estáticos</a:t>
            </a:r>
          </a:p>
        </p:txBody>
      </p:sp>
      <p:sp>
        <p:nvSpPr>
          <p:cNvPr id="36" name="Oval 35"/>
          <p:cNvSpPr/>
          <p:nvPr/>
        </p:nvSpPr>
        <p:spPr>
          <a:xfrm>
            <a:off x="6419088" y="4581144"/>
            <a:ext cx="82296" cy="82296"/>
          </a:xfrm>
          <a:prstGeom prst="ellipse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517136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Costo aproximado: US$ 40 - 80 al mes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1645920"/>
            <a:ext cx="26334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98280" y="1645920"/>
            <a:ext cx="2633472" cy="566928"/>
          </a:xfrm>
          <a:prstGeom prst="roundRect">
            <a:avLst>
              <a:gd name="adj" fmla="val 6000"/>
            </a:avLst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ESCALON MAYOR</a:t>
            </a:r>
          </a:p>
        </p:txBody>
      </p:sp>
      <p:sp>
        <p:nvSpPr>
          <p:cNvPr id="40" name="Oval 39"/>
          <p:cNvSpPr/>
          <p:nvPr/>
        </p:nvSpPr>
        <p:spPr>
          <a:xfrm>
            <a:off x="9262872" y="2441448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45752" y="2377440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Dos servidores de aplicación detras de un balanceador</a:t>
            </a:r>
          </a:p>
        </p:txBody>
      </p:sp>
      <p:sp>
        <p:nvSpPr>
          <p:cNvPr id="42" name="Oval 41"/>
          <p:cNvSpPr/>
          <p:nvPr/>
        </p:nvSpPr>
        <p:spPr>
          <a:xfrm>
            <a:off x="9262872" y="3154679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5752" y="309067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Replica de lectura de la base de datos</a:t>
            </a:r>
          </a:p>
        </p:txBody>
      </p:sp>
      <p:sp>
        <p:nvSpPr>
          <p:cNvPr id="44" name="Oval 43"/>
          <p:cNvSpPr/>
          <p:nvPr/>
        </p:nvSpPr>
        <p:spPr>
          <a:xfrm>
            <a:off x="9262872" y="3867912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5752" y="3803904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Ambiente de staging permanente</a:t>
            </a:r>
          </a:p>
        </p:txBody>
      </p:sp>
      <p:sp>
        <p:nvSpPr>
          <p:cNvPr id="46" name="Oval 45"/>
          <p:cNvSpPr/>
          <p:nvPr/>
        </p:nvSpPr>
        <p:spPr>
          <a:xfrm>
            <a:off x="9262872" y="4581144"/>
            <a:ext cx="82296" cy="82296"/>
          </a:xfrm>
          <a:prstGeom prst="ellipse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5752" y="4517136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334455"/>
                </a:solidFill>
                <a:latin typeface="Segoe UI"/>
              </a:rPr>
              <a:t>Costo aproximado: desde US$ 150 al mes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60807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6190488"/>
            <a:ext cx="10607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La arquitectura elegida permite subir de escalon sin reescribir nada: el mismo código funciona en un VPS pequeño y en una infraestructura con balanceador.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800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146304"/>
            <a:ext cx="877824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82880"/>
            <a:ext cx="1018001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FBF16"/>
                </a:solidFill>
                <a:latin typeface="Segoe UI"/>
              </a:rPr>
              <a:t>RESUMEN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La recomendación en una lamina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8C8D8"/>
                </a:solidFill>
                <a:latin typeface="Segoe UI"/>
              </a:rPr>
              <a:t>Lo que se propone contratar y por 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KG Academy  ·  KG Gestión Integral S.A.S.  ·  Desarrollado por Diego Alejandro Hernández Blanco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A2D4D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RECOMENDACIÓN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A2D4D"/>
                </a:solidFill>
                <a:latin typeface="Segoe UI"/>
              </a:rPr>
              <a:t>Hostinger VPS KVM 2  ·  Ubuntu 24.04  ·  PostgreSQL en el mismo servidor  ·  video en Vimeo o Bunny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A2D4D"/>
                </a:solidFill>
                <a:latin typeface="Segoe UI"/>
              </a:rPr>
              <a:t>Aproximadamente US$ 10 a 34 al mes, cumple el requisito del documento funcional y no ata la plataforma a ningún proveedor.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612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39242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39242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 viable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Ejecuta Next.js con renderizado en servidor y PostgreSQL, que es lo que la aplicación necesita.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4612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2272" y="339242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39242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 economico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La opcion más barata entre las que realmente funcionan.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324612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339242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39242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Respeta el requisito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El esqueleto funcional pide despliegue en Hostinger.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8056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62686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62686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 portable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Si mañana KG quiere migrar, el mismo código corre en cualquier otro VPS o en Vercel.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62272" y="462686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62686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Es suficiente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2 vCPU y 8 GB cubren de sobra el primer año de operacion.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448056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93023" y="4626864"/>
            <a:ext cx="310896" cy="310896"/>
          </a:xfrm>
          <a:prstGeom prst="ellipse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A2D4D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4626864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0A2D4D"/>
                </a:solidFill>
                <a:latin typeface="Segoe UI"/>
              </a:rPr>
              <a:t>Tiene plan B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7C8C"/>
                </a:solidFill>
                <a:latin typeface="Segoe UI"/>
              </a:rPr>
              <a:t>Si KG no quiere administrar servidor: Vercel + Neon, el doble de costo y cero mantenimiento.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9F4C8"/>
          </a:solidFill>
          <a:ln w="12700">
            <a:solidFill>
              <a:srgbClr val="8FB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91616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A2D4D"/>
                </a:solidFill>
                <a:latin typeface="Segoe UI"/>
              </a:rPr>
              <a:t>Decision pendiente de KG: confirmar el dominio definitivo y el proveedor de video antes de iniciar el despliegue, porque ambos se necesitan en el paso 6 del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FB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777240"/>
            <a:ext cx="283464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86200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KG ACADEMY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1500" b="0">
                <a:solidFill>
                  <a:srgbClr val="8FBF16"/>
                </a:solidFill>
                <a:latin typeface="Segoe UI"/>
              </a:rPr>
              <a:t>Una infraestructura simple, economica y suficiente para empezar bien.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5D5E5"/>
                </a:solidFill>
                <a:latin typeface="Segoe UI"/>
              </a:rPr>
              <a:t>KG GESTIÓN INTEGRAL S.A.S.  ·  KATERINE GUAÑARITA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1207" y="5623560"/>
            <a:ext cx="5669280" cy="566928"/>
          </a:xfrm>
          <a:prstGeom prst="roundRect">
            <a:avLst>
              <a:gd name="adj" fmla="val 6000"/>
            </a:avLst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2647" y="575157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8FBF16"/>
                </a:solidFill>
                <a:latin typeface="Segoe UI"/>
              </a:rPr>
              <a:t>Diseñado y desarrollado por Diego Alejandro Hernández Blanco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