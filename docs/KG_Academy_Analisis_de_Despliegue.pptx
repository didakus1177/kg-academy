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4056" y="14173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32588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ANALISIS TECNICO  ·  VERSION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6766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DONDE DESPLEGAR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8FBF16"/>
                </a:solidFill>
                <a:latin typeface="Segoe UI"/>
              </a:rPr>
              <a:t>KG Academy en produccion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03320"/>
            <a:ext cx="1371600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6400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C5D5E5"/>
                </a:solidFill>
                <a:latin typeface="Segoe UI"/>
              </a:rPr>
              <a:t>Comparacion de seis alternativas de alojamiento con costos, riesgos y esfuerzo de administracion, una recomendacion argumentada y el plan de puesta en produccion paso a paso.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KG GESTION INTEGRAL S.A.S.  ·  KATERINE GUANARITA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Realizado por Diego Alejandro Hernandez Blanco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Bogota D.C., Colombia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PUNTO DE PARTIDA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Que necesita esta aplicacion para funcionar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Antes de comparar proveedores hay que fijar los requisitos reales. Estos cinco son innegociables.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768096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841248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64792"/>
            <a:ext cx="7223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Proceso Node.js permanente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6B7C8C"/>
                </a:solidFill>
                <a:latin typeface="Segoe UI"/>
              </a:rPr>
              <a:t>KG Academy renderiza en el servidor. Necesita un proceso Node encendido 24/7, no solo archivos HTML servidos por Apache.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60320"/>
            <a:ext cx="768096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560320"/>
            <a:ext cx="82296" cy="84124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679192"/>
            <a:ext cx="7223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Base de datos PostgreSQL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6B7C8C"/>
                </a:solidFill>
                <a:latin typeface="Segoe UI"/>
              </a:rPr>
              <a:t>Relacional, con 44 tablas e integridad referencial. MySQL tambien serviria, pero PostgreSQL es la eleccion recomendada.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4720"/>
            <a:ext cx="768096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82296" cy="84124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593592"/>
            <a:ext cx="7223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HTTPS con dominio propio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6B7C8C"/>
                </a:solidFill>
                <a:latin typeface="Segoe UI"/>
              </a:rPr>
              <a:t>Las cookies de sesion y los codigos QR de los certificados dependen del dominio definitivo. Sin SSL no hay plataforma.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89120"/>
            <a:ext cx="768096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89120"/>
            <a:ext cx="82296" cy="841248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507992"/>
            <a:ext cx="7223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Almacenamiento de video externo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6B7C8C"/>
                </a:solidFill>
                <a:latin typeface="Segoe UI"/>
              </a:rPr>
              <a:t>El video NO debe servirse desde el servidor de la aplicacion: consume todo el ancho de banda y degrada la plataforma.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03520"/>
            <a:ext cx="768096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303520"/>
            <a:ext cx="82296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422392"/>
            <a:ext cx="7223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Respaldos automaticos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6B7C8C"/>
                </a:solidFill>
                <a:latin typeface="Segoe UI"/>
              </a:rPr>
              <a:t>La base contiene la evidencia de capacitacion. Perderla es perder los certificados y la trazabilidad ante una auditoria.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645920"/>
            <a:ext cx="3127248" cy="420624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20" y="1828800"/>
            <a:ext cx="26974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DIMENSIONAMIENTO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Usuarios esperados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100 a 1.000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Concurrencia realista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20 a 50 simultaneos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Recursos suficientes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8FBF16"/>
                </a:solidFill>
                <a:latin typeface="Segoe UI"/>
              </a:rPr>
              <a:t>2 vCPU · 8 GB RAM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Con ese tamano sobra holgadamente para el primer ano.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608076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6190488"/>
            <a:ext cx="1060704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El documento funcional de KG indica 'despliegue por medio de Hostinger'. Ese requisito se respeta en la recomendacion, pero conviene saber que plan de Hostinger sirve y cual 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ADVERTENCIA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Por que el hosting compartido NO sirve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Es el error mas comun y el mas caro de descubrir tarde. Aplica a Hostinger y a cualquier proveedor.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5394960" cy="50292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HOSTING COMPARTIDO  ·  NO VIABLE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368296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04288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Esta pensado para PHP y WordPress, no para procesos Node permanentes.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852928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78892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Normalmente solo ofrece MySQL; no hay PostgreSQL gestionado.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337560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273552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El proceso se reinicia o se suspende por limites de CPU y memoria.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822192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758184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No hay acceso de consola para PM2, migraciones ni tareas programadas.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306824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24281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Si se sube la aplicacion como sitio estatico, dejan de funcionar el login, la base de datos y los certificados.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64592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8" y="1645920"/>
            <a:ext cx="5394960" cy="50292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0A2D4D"/>
                </a:solidFill>
                <a:latin typeface="Segoe UI"/>
              </a:rPr>
              <a:t>LO QUE SI SIRVE</a:t>
            </a:r>
          </a:p>
        </p:txBody>
      </p:sp>
      <p:sp>
        <p:nvSpPr>
          <p:cNvPr id="22" name="Oval 21"/>
          <p:cNvSpPr/>
          <p:nvPr/>
        </p:nvSpPr>
        <p:spPr>
          <a:xfrm>
            <a:off x="6446520" y="2368296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2304288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Un VPS (servidor virtual) con acceso root: Hostinger VPS, DigitalOcean, Hetzner.</a:t>
            </a:r>
          </a:p>
        </p:txBody>
      </p:sp>
      <p:sp>
        <p:nvSpPr>
          <p:cNvPr id="24" name="Oval 23"/>
          <p:cNvSpPr/>
          <p:nvPr/>
        </p:nvSpPr>
        <p:spPr>
          <a:xfrm>
            <a:off x="6446520" y="297180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2907792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Una plataforma gestionada para Node: Vercel, Railway, Render.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3575304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511296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PostgreSQL propio en el VPS o gestionado: Neon, Supabase, el del proveedor.</a:t>
            </a:r>
          </a:p>
        </p:txBody>
      </p:sp>
      <p:sp>
        <p:nvSpPr>
          <p:cNvPr id="28" name="Oval 27"/>
          <p:cNvSpPr/>
          <p:nvPr/>
        </p:nvSpPr>
        <p:spPr>
          <a:xfrm>
            <a:off x="6446520" y="4178808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4114800"/>
            <a:ext cx="4709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334455"/>
                </a:solidFill>
                <a:latin typeface="Segoe UI"/>
              </a:rPr>
              <a:t>Cualquiera de las dos rutas cumple; cambian el costo y quien administra.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2064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23036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Si KG ya contrato un plan de hosting compartido en Hostinger, ese plan puede seguir usandose para el sitio corporativo y el correo, pero la plataforma necesita ademas un VPS.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85216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96188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Un servidor propio dentro de las oficinas de KG tampoco se recomienda: exige IP fija, UPS, certificados, actualizaciones de seguridad y disponibilidad 24/7 que una PYME no puede sostener.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COMPARACION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Las seis alternativas evaluadas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Costos aproximados en dolares por mes. Verificar el precio vigente al momento de contratar.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64237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5269"/>
                <a:gridCol w="1202634"/>
                <a:gridCol w="1683688"/>
                <a:gridCol w="881932"/>
                <a:gridCol w="1362986"/>
                <a:gridCol w="3527728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Alternativa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Costo / mes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Esfuerzo de administracion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Veredicto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Comentario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Hostinger  ·  Hosting compartido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US$ 3 - 10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aplica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Muy bajo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VIABLE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ejecuta Next.js con renderizado en servidor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Hostinger  ·  VPS KVM 2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US$ 8 - 18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Alto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RECOMENDADO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Cumple el requisito del documento, costo bajo y control total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Vercel + Neon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US$ 20 - 40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Muy bajo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ALTERNATIVA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Cero administracion, ideal para Next.js, costo recurrente mayor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Railway o Render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US$ 14 - 30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Bajo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ALTERNATIVA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App y base de datos en el mismo proveedor, despliegue simple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DigitalOcean o Hetzner VPS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US$ 6 - 15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Alto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EQUIVALENTE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Mismo esquema que el VPS de Hostinger, a veces mas potencia por el precio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Servidor propio en KG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Muy alto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RECOMENDADO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Requiere IP fija, UPS, seguridad fisica y soporte 24/7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568756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Los precios son ordenes de magnitud a 2026 y varian con promociones y plazo de contratacion. El costo del dominio (.co, aproximadamente US$ 25 al ano) es aparte en todas las opciones.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CRITERIOS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Como se tomo la decision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Cinco criterios, ponderados segun la realidad de KG: una PYME que lanza su primer producto 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64208"/>
            <a:ext cx="69494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64208"/>
            <a:ext cx="82296" cy="78638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Costo recurrente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Debe caber en el presupuesto de una PYME sin comprometer 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865376"/>
            <a:ext cx="777240" cy="38404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2D4D"/>
                </a:solidFill>
                <a:latin typeface="Segoe UI"/>
              </a:rPr>
              <a:t>30 %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42032"/>
            <a:ext cx="69494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542032"/>
            <a:ext cx="82296" cy="786384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60904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Esfuerzo de administracion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KG no tiene un area de sistemas dedicada al mantenimiento del servidor.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743200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25 %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19856"/>
            <a:ext cx="69494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82296" cy="786384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538728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Cumplir el requisito del cliente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El documento funcional pide explicitamente Hostinger.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621024"/>
            <a:ext cx="777240" cy="38404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20 %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97680"/>
            <a:ext cx="69494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297680"/>
            <a:ext cx="82296" cy="786384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416552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Control y portabilidad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Poder migrar sin reescribir la aplicacion ni quedar atado al proveedor.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498848"/>
            <a:ext cx="777240" cy="384048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15 %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69494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175504"/>
            <a:ext cx="82296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94376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Latencia desde Colombia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Elegir el centro de datos mas cercano disponible marca la diferencia.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5376672"/>
            <a:ext cx="777240" cy="384048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10 %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1664208"/>
            <a:ext cx="3858768" cy="3749039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1" y="1847088"/>
            <a:ext cx="33832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CONCLUSION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El VPS de Hostinger gana porque es el unico que satisface a la vez los tres criterios de mayor peso: es el mas economico de los viables, respeta el requisito del documento y no ata la plataforma a un proveedor.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Su unica debilidad es el esfuerzo de administracion, y se compensa dejando el servidor configurado, documentado y con respaldos automaticos desde el primer dia.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12648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623620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Si KG prefiere no administrar ningun servidor, la segunda opcion es Vercel + Neon: cuesta aproximadamente el doble al mes pero elimina por completo el mantenimiento.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RECOMENDACION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Arquitectura recomendada para el lanzamiento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Hostinger VPS KVM 2, centro de datos mas cercano disponible (EE.UU. este o Sao Paulo).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USUARIOS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7393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A2D4D"/>
                </a:solidFill>
                <a:latin typeface="Segoe UI"/>
              </a:rPr>
              <a:t>Trabajadores, empresas y KG  ·  navegador web  ·  HTTPS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359152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4688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DOMINIO Y SSL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50545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kgacademy.co  ·  certificado Let's Encrypt con renovacion automatica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090672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NGINX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3697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Proxy inverso en los puertos 80 y 443  ·  compresion  ·  cabeceras de seguridad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822191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31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APLICACION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6849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Next.js en produccion  ·  proceso Node gestionado por PM2  ·  reinicio automatico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553712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66344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BASE DE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70001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PostgreSQL 16 en el mismo VPS  ·  solo accesible desde localhost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1627632"/>
            <a:ext cx="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5285231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39495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RESPALDOS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431536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pg_dump diario por cron  ·  retencion 30 dias  ·  copia fuera del servidor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0" y="1627632"/>
            <a:ext cx="3218688" cy="4315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12480" y="1627632"/>
            <a:ext cx="3218688" cy="457200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SERVICIOS EXTERNOS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13648" y="2240280"/>
            <a:ext cx="283464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96528" y="2331720"/>
            <a:ext cx="25146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Video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6B7C8C"/>
                </a:solidFill>
                <a:latin typeface="Segoe UI"/>
              </a:rPr>
              <a:t>Vimeo o Bunny Stream. Nunca desde el VPS.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13648" y="2990088"/>
            <a:ext cx="283464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6528" y="3081528"/>
            <a:ext cx="25146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Interactivos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6B7C8C"/>
                </a:solidFill>
                <a:latin typeface="Segoe UI"/>
              </a:rPr>
              <a:t>Genially, embebido por URL.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3739896"/>
            <a:ext cx="283464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96528" y="3831335"/>
            <a:ext cx="25146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Correo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6B7C8C"/>
                </a:solidFill>
                <a:latin typeface="Segoe UI"/>
              </a:rPr>
              <a:t>Brevo o Resend, capa gratuita suficiente al inicio.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13648" y="4489704"/>
            <a:ext cx="283464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96528" y="4581144"/>
            <a:ext cx="25146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Monitoreo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6B7C8C"/>
                </a:solidFill>
                <a:latin typeface="Segoe UI"/>
              </a:rPr>
              <a:t>UptimeRobot, avisa si el sitio cae.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5239512"/>
            <a:ext cx="283464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96528" y="5330952"/>
            <a:ext cx="25146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Copia externa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6B7C8C"/>
                </a:solidFill>
                <a:latin typeface="Segoe UI"/>
              </a:rPr>
              <a:t>Backblaze B2 o Google Drive.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612648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623620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PostgreSQL escuchando solo en localhost es una decision de seguridad deliberada: la base nunca queda expuesta a internet, solo la alcanza la aplicacion que corre en el mismo servidor.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COSTOS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Cuanto cuesta sostener la plataforma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Comparacion de las dos rutas recomendadas. Valores aproximados; confirmar al contratar.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64237" cy="444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198"/>
                <a:gridCol w="2141465"/>
                <a:gridCol w="2141465"/>
                <a:gridCol w="35691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Concepto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Ruta A  ·  VPS Hostinger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Ruta B  ·  Vercel + Neon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Para que sirve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VPS Hostinger KVM 2 (2 vCPU / 8 GB)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US$ 8 - 18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Incluido en Vercel + Neon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Servidor de aplicacion y base de datos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Plataforma gestionada (Vercel Pro)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No aplica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US$ 20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Alojamiento de la aplicacion sin administracion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PostgreSQL gestionado (Neon)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No aplica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US$ 0 - 19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Base de datos con respaldos automaticos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Dominio .co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US$ 2 (25 al ano)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US$ 2 (25 al ano)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Direccion definitiva de la plataforma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Certificado SSL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Let's Encrypt o incluido en la plataforma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Alojamiento de video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US$ 0 - 12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US$ 0 - 12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Vimeo o Bunny Stream segun consumo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Correo transaccional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Capa gratuita de Brevo o Resend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Monitoreo y respaldo externo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US$ 0 - 2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US$ 0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UptimeRobot y almacenamiento de copias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TOTAL MENSUAL APROXIMADO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US$ 10 - 34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US$ 22 - 53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Equivale a $45.000 - $150.000 COP / mes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94360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605332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diferencia real entre las dos rutas no es el dinero, es el tiempo: la ruta A exige unas 2 horas al mes de mantenimiento (actualizaciones y revision de respaldos); la ruta B, practicamente ninguna.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DECISION APARTE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Donde alojar el video de los cursos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Es la decision tecnica que mas impacta el costo y la experiencia. Merece analisis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9222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En el mismo VPS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865376"/>
            <a:ext cx="1371600" cy="36576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92224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19" b="0">
                <a:solidFill>
                  <a:srgbClr val="334455"/>
                </a:solidFill>
                <a:latin typeface="Segoe UI"/>
              </a:rPr>
              <a:t>Un video de 200 MB visto por 50 personas consume 10 GB de trafico. Satura el servidor y deja la plataforma lenta para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56032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560320"/>
            <a:ext cx="82296" cy="822960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YouTube no listado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779776"/>
            <a:ext cx="1371600" cy="365760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VIABLE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706624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19" b="0">
                <a:solidFill>
                  <a:srgbClr val="334455"/>
                </a:solidFill>
                <a:latin typeface="Segoe UI"/>
              </a:rPr>
              <a:t>Gratis e ilimitado. Contras: muestra recomendaciones al final, la marca de YouTube y no impide que alguien comparta el enlace.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7472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474720"/>
            <a:ext cx="82296" cy="82296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62102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Vimeo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3694176"/>
            <a:ext cx="1371600" cy="36576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A2D4D"/>
                </a:solidFill>
                <a:latin typeface="Segoe UI"/>
              </a:rPr>
              <a:t>RECOMENDADO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621024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19" b="0">
                <a:solidFill>
                  <a:srgbClr val="334455"/>
                </a:solidFill>
                <a:latin typeface="Segoe UI"/>
              </a:rPr>
              <a:t>Reproductor limpio y personalizable con la marca KG, control de dominio desde el que se puede reproducir, estadisticas. Desde unos US$ 12 al 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38912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389120"/>
            <a:ext cx="82296" cy="82296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3542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Bunny Stream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608576"/>
            <a:ext cx="1371600" cy="36576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0A2D4D"/>
                </a:solidFill>
                <a:latin typeface="Segoe UI"/>
              </a:rPr>
              <a:t>RECOMENDADO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535424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19" b="0">
                <a:solidFill>
                  <a:srgbClr val="334455"/>
                </a:solidFill>
                <a:latin typeface="Segoe UI"/>
              </a:rPr>
              <a:t>Muy economico, se paga por consumo real, red de distribucion rapida en Latinoamerica y reproductor propio.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303520"/>
            <a:ext cx="82296" cy="82296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4982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Genially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5522976"/>
            <a:ext cx="1371600" cy="36576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COMPLEMENTARIO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5449824"/>
            <a:ext cx="6492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19" b="0">
                <a:solidFill>
                  <a:srgbClr val="334455"/>
                </a:solidFill>
                <a:latin typeface="Segoe UI"/>
              </a:rPr>
              <a:t>Para los recursos interactivos, no para el video pesado. Ya esta contemplado en la plataforma como tipo de contenido.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626364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637336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plataforma ya soporta las cuatro opciones: en el constructor se elige el tipo de contenido y se pega la URL. Cambiar de proveedor de video mas adelante no exige tocar el codigo.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CUMPLIMIENTO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Datos personales y respaldos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Dos temas que suelen olvidarse hasta que hay una auditoria o una perdida de informacion.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5394960" cy="50292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PROTECCION DE DATOS  ·  LEY 1581 DE 2012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Los datos saldran del pais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Ninguna de las alternativas viables tiene centro de datos en Colombia.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16936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90088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ley lo permite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Con autorizacion expresa del titular o con un contrato de transmision de datos con el proveedor.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02152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75304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Ya esta implementado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El registro exige la autorizacion y guarda la fecha exacta en que se otorgo.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87368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60520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Falta formalizar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Firmar el acuerdo de tratamiento de datos que ofrece el proveedor y publicar la politica de privacidad.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672583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745736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Validar con juridico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La redaccion final de la politica debe revisarla el asesor juridico de KG.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64592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8" y="1645920"/>
            <a:ext cx="5394960" cy="50292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0A2D4D"/>
                </a:solidFill>
                <a:latin typeface="Segoe UI"/>
              </a:rPr>
              <a:t>POLITICA DE RESPALDOS PROPUESTA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331720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0487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Diario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pg_dump automatico a la 1:00 a.m., comprimido.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916936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2990088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Retencion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30 copias diarias en el servidor.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502152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575304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Fuera del servidor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Copia semanal a Backblaze B2 o Google Drive.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087368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160520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Snapshot del VPS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Semanal, para restaurar el servidor completo.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4672583"/>
            <a:ext cx="4974336" cy="53035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745736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Prueba de restauracion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Cada tres meses, restaurar en un ambiente de prueba.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44068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55040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Un respaldo que nunca se ha restaurado no es un respaldo: es una suposicion. Por eso la prueba trimestral.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6053328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6163056"/>
            <a:ext cx="1060704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Sin respaldos, perder la base significa perder los certificados emitidos y toda la trazabilidad de capacitacion que la empresa debe demostrar ante la ARL.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EJECUCION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Plan de puesta en produccion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Doce pasos. Un dia de trabajo tecnico si el dominio ya esta disponible.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4650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46504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Contratar VPS y dominio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Ubuntu 24.04. Apuntar los registros DNS al servidor.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645920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3952" y="174650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746504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Asegurar el servidor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Usuario sin privilegios de root, firewall abierto solo en 22, 80 y 443.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404872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50545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505456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Instalar el entorno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Node.js 20, PostgreSQL 16, Nginx y PM2.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404872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505456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Crear la base de datos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Usuario y base dedicados, escuchando solo en localhost.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63824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3264408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264408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Subir el codigo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Clonar el repositorio en el servidor.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3163824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3952" y="3264408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64408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Configurar el .env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AUTH_SECRET nuevo y largo, DATABASE_URL y NEXT_PUBLIC_APP_URL con el dominio real.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22776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3232" y="4023360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023360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Cambiar el motor en Prisma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provider = postgresql y ejecutar prisma migrate deploy.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3922776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3952" y="4023360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023360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Cargar los catalogos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Roles, permisos, plantillas y configuracion. NO el seed de demostracion.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681728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3232" y="478231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4782312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Compilar y levantar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npm run build y arrancar con PM2 con reinicio automatico.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7648" y="4681728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73952" y="478231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782312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Publicar con Nginx y SSL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Proxy inverso al puerto 3000 y certificado con Certbot.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440679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" y="5541263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5541263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Activar respaldos y monitoreo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Cron de pg_dump, copia externa y UptimeRobot.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27648" y="5440679"/>
            <a:ext cx="5486400" cy="6766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73952" y="5541263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5541263"/>
            <a:ext cx="4526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Pruebas de aceptacion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Ingreso por cada rol, aula, evaluacion, certificado y QR con el dominio real.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626364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637336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Paso 8, critico: el seed actual BORRA la base antes de sembrar. En produccion debe ejecutarse solo la parte de catalogos, nunca el seed completo despues del lanzamiento.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EJECUCION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Detalles que suelen costar caro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Errores frecuentes en el paso a produccion, y como evitarlos en este proyecto concreto.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12984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El QR apunta a localhost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Si NEXT_PUBLIC_APP_URL no tiene el dominio definitivo ANTES de emitir el primer certificado, los QR quedaran apuntando a localhost y habra que reemitirlos.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64592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7648" y="1645920"/>
            <a:ext cx="82296" cy="12984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La clave de sesion por defecto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AUTH_SECRET debe cambiarse por una cadena larga y aleatoria. Con la clave de ejemplo, cualquiera podria falsificar una sesion.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108960"/>
            <a:ext cx="82296" cy="12984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Ejecutar el seed en produccion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Borraria usuarios, avances y certificados reales. Debe deshabilitarse el comando en el servidor productivo.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310896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3108960"/>
            <a:ext cx="82296" cy="1298448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24612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No tener ambiente de pruebas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Todo cambio deberia probarse en un subdominio de staging antes de tocar produccion. Un segundo VPS pequeno o un subdominio en el mismo servidor.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7200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572000"/>
            <a:ext cx="82296" cy="1298448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Olvidar la zona horaria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Configurar el servidor en America/Bogota para que las fechas de los certificados y los vencimientos coincidan con la realidad.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4572000"/>
            <a:ext cx="548640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4572000"/>
            <a:ext cx="82296" cy="129844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7091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No documentar los accesos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Entregar a KG las credenciales del VPS, del dominio, de la base y del repositorio. El punto 25 del esqueleto lo exige explicitamente.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FUTURO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Que hacer cuando la plataforma crezca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Senales concretas para saber cuando conviene cambiar de escalon, y a que escalon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26334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2633472" cy="56692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0A2D4D"/>
                </a:solidFill>
                <a:latin typeface="Segoe UI"/>
              </a:rPr>
              <a:t>HOY  ·  hasta 1.000 usuarios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441448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Un VPS con la aplicacion y PostgreSQL juntos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54679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9067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Respaldos diarios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867912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03904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Monitoreo basico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581144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517136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Costo aproximado: US$ 10 - 34 al 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0712" y="1645920"/>
            <a:ext cx="26334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10712" y="1645920"/>
            <a:ext cx="2633472" cy="566928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0A2D4D"/>
                </a:solidFill>
                <a:latin typeface="Segoe UI"/>
              </a:rPr>
              <a:t>SENAL DE CAMBIO</a:t>
            </a:r>
          </a:p>
        </p:txBody>
      </p:sp>
      <p:sp>
        <p:nvSpPr>
          <p:cNvPr id="20" name="Oval 19"/>
          <p:cNvSpPr/>
          <p:nvPr/>
        </p:nvSpPr>
        <p:spPr>
          <a:xfrm>
            <a:off x="3575304" y="2441448"/>
            <a:ext cx="82296" cy="82296"/>
          </a:xfrm>
          <a:prstGeom prst="ellipse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8184" y="237744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El servidor supera el 70 % de CPU o memoria de forma sostenida</a:t>
            </a:r>
          </a:p>
        </p:txBody>
      </p:sp>
      <p:sp>
        <p:nvSpPr>
          <p:cNvPr id="22" name="Oval 21"/>
          <p:cNvSpPr/>
          <p:nvPr/>
        </p:nvSpPr>
        <p:spPr>
          <a:xfrm>
            <a:off x="3575304" y="3154679"/>
            <a:ext cx="82296" cy="82296"/>
          </a:xfrm>
          <a:prstGeom prst="ellipse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8184" y="309067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Las paginas tardan mas de 2 segundos</a:t>
            </a:r>
          </a:p>
        </p:txBody>
      </p:sp>
      <p:sp>
        <p:nvSpPr>
          <p:cNvPr id="24" name="Oval 23"/>
          <p:cNvSpPr/>
          <p:nvPr/>
        </p:nvSpPr>
        <p:spPr>
          <a:xfrm>
            <a:off x="3575304" y="3867912"/>
            <a:ext cx="82296" cy="82296"/>
          </a:xfrm>
          <a:prstGeom prst="ellipse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58184" y="3803904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Mas de 100 usuarios simultaneos</a:t>
            </a:r>
          </a:p>
        </p:txBody>
      </p:sp>
      <p:sp>
        <p:nvSpPr>
          <p:cNvPr id="26" name="Oval 25"/>
          <p:cNvSpPr/>
          <p:nvPr/>
        </p:nvSpPr>
        <p:spPr>
          <a:xfrm>
            <a:off x="3575304" y="4581144"/>
            <a:ext cx="82296" cy="82296"/>
          </a:xfrm>
          <a:prstGeom prst="ellipse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8184" y="4517136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La base supera los 20 GB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1645920"/>
            <a:ext cx="26334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4496" y="1645920"/>
            <a:ext cx="2633472" cy="56692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SIGUIENTE ESCALON</a:t>
            </a:r>
          </a:p>
        </p:txBody>
      </p:sp>
      <p:sp>
        <p:nvSpPr>
          <p:cNvPr id="30" name="Oval 29"/>
          <p:cNvSpPr/>
          <p:nvPr/>
        </p:nvSpPr>
        <p:spPr>
          <a:xfrm>
            <a:off x="6419088" y="2441448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237744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Separar la base de datos en su propio servidor gestionado</a:t>
            </a:r>
          </a:p>
        </p:txBody>
      </p:sp>
      <p:sp>
        <p:nvSpPr>
          <p:cNvPr id="32" name="Oval 31"/>
          <p:cNvSpPr/>
          <p:nvPr/>
        </p:nvSpPr>
        <p:spPr>
          <a:xfrm>
            <a:off x="6419088" y="3154679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1968" y="309067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Subir el VPS a 4 vCPU / 16 GB</a:t>
            </a:r>
          </a:p>
        </p:txBody>
      </p:sp>
      <p:sp>
        <p:nvSpPr>
          <p:cNvPr id="34" name="Oval 33"/>
          <p:cNvSpPr/>
          <p:nvPr/>
        </p:nvSpPr>
        <p:spPr>
          <a:xfrm>
            <a:off x="6419088" y="3867912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803904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Agregar una CDN para los archivos estaticos</a:t>
            </a:r>
          </a:p>
        </p:txBody>
      </p:sp>
      <p:sp>
        <p:nvSpPr>
          <p:cNvPr id="36" name="Oval 35"/>
          <p:cNvSpPr/>
          <p:nvPr/>
        </p:nvSpPr>
        <p:spPr>
          <a:xfrm>
            <a:off x="6419088" y="4581144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517136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Costo aproximado: US$ 40 - 80 al mes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1645920"/>
            <a:ext cx="26334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98280" y="1645920"/>
            <a:ext cx="2633472" cy="56692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ESCALON MAYOR</a:t>
            </a:r>
          </a:p>
        </p:txBody>
      </p:sp>
      <p:sp>
        <p:nvSpPr>
          <p:cNvPr id="40" name="Oval 39"/>
          <p:cNvSpPr/>
          <p:nvPr/>
        </p:nvSpPr>
        <p:spPr>
          <a:xfrm>
            <a:off x="9262872" y="2441448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45752" y="2377440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Dos servidores de aplicacion detras de un balanceador</a:t>
            </a:r>
          </a:p>
        </p:txBody>
      </p:sp>
      <p:sp>
        <p:nvSpPr>
          <p:cNvPr id="42" name="Oval 41"/>
          <p:cNvSpPr/>
          <p:nvPr/>
        </p:nvSpPr>
        <p:spPr>
          <a:xfrm>
            <a:off x="9262872" y="3154679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5752" y="309067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Replica de lectura de la base de datos</a:t>
            </a:r>
          </a:p>
        </p:txBody>
      </p:sp>
      <p:sp>
        <p:nvSpPr>
          <p:cNvPr id="44" name="Oval 43"/>
          <p:cNvSpPr/>
          <p:nvPr/>
        </p:nvSpPr>
        <p:spPr>
          <a:xfrm>
            <a:off x="9262872" y="3867912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45752" y="3803904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Ambiente de staging permanente</a:t>
            </a:r>
          </a:p>
        </p:txBody>
      </p:sp>
      <p:sp>
        <p:nvSpPr>
          <p:cNvPr id="46" name="Oval 45"/>
          <p:cNvSpPr/>
          <p:nvPr/>
        </p:nvSpPr>
        <p:spPr>
          <a:xfrm>
            <a:off x="9262872" y="4581144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45752" y="4517136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Costo aproximado: desde US$ 150 al mes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608076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619048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arquitectura elegida permite subir de escalon sin reescribir nada: el mismo codigo funciona en un VPS pequeno y en una infraestructura con balanceador.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RESUMEN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La recomendacion en una lamina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Lo que se propone contratar y por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Gestion Integral S.A.S.  ·  Desarrollado por Diego Alejandro Hernandez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RECOMENDACION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A2D4D"/>
                </a:solidFill>
                <a:latin typeface="Segoe UI"/>
              </a:rPr>
              <a:t>Hostinger VPS KVM 2  ·  Ubuntu 24.04  ·  PostgreSQL en el mismo servidor  ·  video en Vimeo o Bunny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A2D4D"/>
                </a:solidFill>
                <a:latin typeface="Segoe UI"/>
              </a:rPr>
              <a:t>Aproximadamente US$ 10 a 34 al mes, cumple el requisito del documento funcional y no ata la plataforma a ningun proveedor.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612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39242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9242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 viable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Ejecuta Next.js con renderizado en servidor y PostgreSQL, que es lo que la aplicacion necesita.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4612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62272" y="339242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339242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 economico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La opcion mas barata entre las que realmente funcionan.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324612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93023" y="339242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339242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Respeta el requisito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El esqueleto funcional pide despliegue en Hostinger.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8056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462686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62686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 portable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Si manana KG quiere migrar, el mismo codigo corre en cualquier otro VPS o en Vercel.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48056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62272" y="462686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462686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 suficiente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2 vCPU y 8 GB cubren de sobra el primer ano de operacion.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448056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93023" y="4626864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59" y="4626864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Tiene plan B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Si KG no quiere administrar servidor: Vercel + Neon, el doble de costo y cero mantenimiento.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0644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591616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Decision pendiente de KG: confirmar el dominio definitivo y el proveedor de video antes de iniciar el despliegue, porque ambos se necesitan en el paso 6 del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527" y="777240"/>
            <a:ext cx="283464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886200"/>
            <a:ext cx="94484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KG ACADEMY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1500" b="0">
                <a:solidFill>
                  <a:srgbClr val="8FBF16"/>
                </a:solidFill>
                <a:latin typeface="Segoe UI"/>
              </a:rPr>
              <a:t>Una infraestructura simple, economica y suficiente para empezar bien.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D5E5"/>
                </a:solidFill>
                <a:latin typeface="Segoe UI"/>
              </a:rPr>
              <a:t>KG GESTION INTEGRAL S.A.S.  ·  KATERINE GUANARITA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1207" y="5623560"/>
            <a:ext cx="5669280" cy="56692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2647" y="575157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8FBF16"/>
                </a:solidFill>
                <a:latin typeface="Segoe UI"/>
              </a:rPr>
              <a:t>Disenado y desarrollado por Diego Alejandro Hernandez Blanco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