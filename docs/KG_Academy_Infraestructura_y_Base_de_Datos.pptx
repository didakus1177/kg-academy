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056" y="141732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8FBF16"/>
                </a:solidFill>
                <a:latin typeface="Segoe UI"/>
              </a:rPr>
              <a:t>DOCUMENTO TECNICO  ·  VERSION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6766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KG ACADEMY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8FBF16"/>
                </a:solidFill>
                <a:latin typeface="Segoe UI"/>
              </a:rPr>
              <a:t>Infraestructura y base de datos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703320"/>
            <a:ext cx="1371600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C5D5E5"/>
                </a:solidFill>
                <a:latin typeface="Segoe UI"/>
              </a:rPr>
              <a:t>Plataforma educativa LMS con capacidades B2C y B2B para la gestion, trazabilidad y certificacion de la formacion en Seguridad y Salud en el Trabajo.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349240"/>
            <a:ext cx="6766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KG GESTION INTEGRAL S.A.S.  ·  KATERINE GUANARITA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8FBF16"/>
                </a:solidFill>
                <a:latin typeface="Segoe UI"/>
              </a:rPr>
              <a:t>Realizado por Diego Alejandro Hernandez Blanco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7C8C"/>
                </a:solidFill>
                <a:latin typeface="Segoe UI"/>
              </a:rPr>
              <a:t>Bogota D.C., Colombia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CONTENIDO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Agenda del 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" y="1700784"/>
            <a:ext cx="530352" cy="530352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8FBF16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1907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0A2D4D"/>
                </a:solidFill>
                <a:latin typeface="Segoe UI"/>
              </a:rPr>
              <a:t>Vision general y alcance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C8C"/>
                </a:solidFill>
                <a:latin typeface="Segoe UI"/>
              </a:rPr>
              <a:t>Que resuelve la plataforma y que incluye el MVP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05456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" y="2633472"/>
            <a:ext cx="530352" cy="530352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8FBF16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517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0A2D4D"/>
                </a:solidFill>
                <a:latin typeface="Segoe UI"/>
              </a:rPr>
              <a:t>Arquitectura de la solucion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C8C"/>
                </a:solidFill>
                <a:latin typeface="Segoe UI"/>
              </a:rPr>
              <a:t>Capas, responsabilidades y flujo de una peticion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38144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" y="3566160"/>
            <a:ext cx="530352" cy="530352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8FBF1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844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0A2D4D"/>
                </a:solidFill>
                <a:latin typeface="Segoe UI"/>
              </a:rPr>
              <a:t>Stack tecnologico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C8C"/>
                </a:solidFill>
                <a:latin typeface="Segoe UI"/>
              </a:rPr>
              <a:t>Tecnologias elegidas y justificacion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70832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4498848"/>
            <a:ext cx="530352" cy="530352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8FBF16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1713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0A2D4D"/>
                </a:solidFill>
                <a:latin typeface="Segoe UI"/>
              </a:rPr>
              <a:t>Infraestructura de despliegue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C8C"/>
                </a:solidFill>
                <a:latin typeface="Segoe UI"/>
              </a:rPr>
              <a:t>Ambiente local y ambiente productivo en Hostinger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03520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944" y="5431536"/>
            <a:ext cx="530352" cy="530352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8FBF16"/>
                </a:solidFill>
                <a:latin typeface="Segoe U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4982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0A2D4D"/>
                </a:solidFill>
                <a:latin typeface="Segoe UI"/>
              </a:rPr>
              <a:t>Mapa del modelo de datos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C8C"/>
                </a:solidFill>
                <a:latin typeface="Segoe UI"/>
              </a:rPr>
              <a:t>11 dominios funcionales, 44 tablas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1572768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55664" y="1700784"/>
            <a:ext cx="530352" cy="530352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8FBF16"/>
                </a:solidFill>
                <a:latin typeface="Segoe U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71907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0A2D4D"/>
                </a:solidFill>
                <a:latin typeface="Segoe UI"/>
              </a:rPr>
              <a:t>Diccionario de tablas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C8C"/>
                </a:solidFill>
                <a:latin typeface="Segoe UI"/>
              </a:rPr>
              <a:t>Detalle campo a campo por dominio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7648" y="2505456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55664" y="2633472"/>
            <a:ext cx="530352" cy="530352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8FBF16"/>
                </a:solidFill>
                <a:latin typeface="Segoe U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6517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0A2D4D"/>
                </a:solidFill>
                <a:latin typeface="Segoe UI"/>
              </a:rPr>
              <a:t>Motor de progreso y certificacion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C8C"/>
                </a:solidFill>
                <a:latin typeface="Segoe UI"/>
              </a:rPr>
              <a:t>Reglas de negocio implementadas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7648" y="3438144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55664" y="3566160"/>
            <a:ext cx="530352" cy="530352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8FBF16"/>
                </a:solidFill>
                <a:latin typeface="Segoe U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5844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0A2D4D"/>
                </a:solidFill>
                <a:latin typeface="Segoe UI"/>
              </a:rPr>
              <a:t>Seguridad, permisos y auditoria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C8C"/>
                </a:solidFill>
                <a:latin typeface="Segoe UI"/>
              </a:rPr>
              <a:t>Control de acceso y trazabilidad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7648" y="4370832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55664" y="4498848"/>
            <a:ext cx="530352" cy="530352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8FBF16"/>
                </a:solidFill>
                <a:latin typeface="Segoe UI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51713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0A2D4D"/>
                </a:solidFill>
                <a:latin typeface="Segoe UI"/>
              </a:rPr>
              <a:t>Roadmap por fases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C8C"/>
                </a:solidFill>
                <a:latin typeface="Segoe UI"/>
              </a:rPr>
              <a:t>Que esta listo y que sigue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01 · VISION GENERAL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Que es KG Academy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Plataforma tipo LMS/marketplace que combina formacion virtual con gestion corporativa de la capacitacion.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3520440" cy="566928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373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B2C  ·  Estudiante independiente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7744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334455"/>
                </a:solidFill>
                <a:latin typeface="Segoe UI"/>
              </a:rPr>
              <a:t>Se registra, compra o accede a cursos, estudia, se evalua y descarga su certificado.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002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1688" y="1600200"/>
            <a:ext cx="3520440" cy="566928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7373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B2B  ·  Empresa 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37744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334455"/>
                </a:solidFill>
                <a:latin typeface="Segoe UI"/>
              </a:rPr>
              <a:t>Carga trabajadores, asigna cursos con fecha limite y consulta cumplimiento por area, cargo y sede.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6002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600200"/>
            <a:ext cx="3520440" cy="566928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7373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KG  ·  Administracion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37744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334455"/>
                </a:solidFill>
                <a:latin typeface="Segoe UI"/>
              </a:rPr>
              <a:t>Publica cursos y contenidos, administra usuarios, empresas, evaluaciones, certificados y reportes.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114800"/>
            <a:ext cx="11064240" cy="20574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3159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ALCANCE DEL MVP IMPLEMENTADO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764024"/>
            <a:ext cx="91440" cy="9144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7091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Autenticacion, registro y gestion de sesiones</a:t>
            </a:r>
          </a:p>
        </p:txBody>
      </p:sp>
      <p:sp>
        <p:nvSpPr>
          <p:cNvPr id="24" name="Oval 23"/>
          <p:cNvSpPr/>
          <p:nvPr/>
        </p:nvSpPr>
        <p:spPr>
          <a:xfrm>
            <a:off x="4480560" y="4764024"/>
            <a:ext cx="91440" cy="9144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47091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Roles, permisos y separacion por empresa</a:t>
            </a:r>
          </a:p>
        </p:txBody>
      </p:sp>
      <p:sp>
        <p:nvSpPr>
          <p:cNvPr id="26" name="Oval 25"/>
          <p:cNvSpPr/>
          <p:nvPr/>
        </p:nvSpPr>
        <p:spPr>
          <a:xfrm>
            <a:off x="8092440" y="4764024"/>
            <a:ext cx="91440" cy="9144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47091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Catalogo, ficha de curso y matricula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5111496"/>
            <a:ext cx="91440" cy="9144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505663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Aula virtual con progreso leccion a leccion</a:t>
            </a:r>
          </a:p>
        </p:txBody>
      </p:sp>
      <p:sp>
        <p:nvSpPr>
          <p:cNvPr id="30" name="Oval 29"/>
          <p:cNvSpPr/>
          <p:nvPr/>
        </p:nvSpPr>
        <p:spPr>
          <a:xfrm>
            <a:off x="4480560" y="5111496"/>
            <a:ext cx="91440" cy="9144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505663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Evaluaciones con calificacion automatica</a:t>
            </a:r>
          </a:p>
        </p:txBody>
      </p:sp>
      <p:sp>
        <p:nvSpPr>
          <p:cNvPr id="32" name="Oval 31"/>
          <p:cNvSpPr/>
          <p:nvPr/>
        </p:nvSpPr>
        <p:spPr>
          <a:xfrm>
            <a:off x="8092440" y="5111496"/>
            <a:ext cx="91440" cy="9144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505663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Certificados con codigo unico y QR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" y="5458968"/>
            <a:ext cx="91440" cy="9144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9848" y="540410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Panel empresarial con asignacion masiva</a:t>
            </a:r>
          </a:p>
        </p:txBody>
      </p:sp>
      <p:sp>
        <p:nvSpPr>
          <p:cNvPr id="36" name="Oval 35"/>
          <p:cNvSpPr/>
          <p:nvPr/>
        </p:nvSpPr>
        <p:spPr>
          <a:xfrm>
            <a:off x="4480560" y="5458968"/>
            <a:ext cx="91440" cy="9144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8" y="540410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Panel SuperAdmin y constructor de cursos</a:t>
            </a:r>
          </a:p>
        </p:txBody>
      </p:sp>
      <p:sp>
        <p:nvSpPr>
          <p:cNvPr id="38" name="Oval 37"/>
          <p:cNvSpPr/>
          <p:nvPr/>
        </p:nvSpPr>
        <p:spPr>
          <a:xfrm>
            <a:off x="8092440" y="5458968"/>
            <a:ext cx="91440" cy="9144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3608" y="540410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Reportes exportables a CSV</a:t>
            </a:r>
          </a:p>
        </p:txBody>
      </p:sp>
      <p:sp>
        <p:nvSpPr>
          <p:cNvPr id="40" name="Oval 39"/>
          <p:cNvSpPr/>
          <p:nvPr/>
        </p:nvSpPr>
        <p:spPr>
          <a:xfrm>
            <a:off x="868680" y="5806440"/>
            <a:ext cx="91440" cy="9144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" y="575157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Notificaciones internas</a:t>
            </a:r>
          </a:p>
        </p:txBody>
      </p:sp>
      <p:sp>
        <p:nvSpPr>
          <p:cNvPr id="42" name="Oval 41"/>
          <p:cNvSpPr/>
          <p:nvPr/>
        </p:nvSpPr>
        <p:spPr>
          <a:xfrm>
            <a:off x="4480560" y="5806440"/>
            <a:ext cx="91440" cy="9144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81728" y="575157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Gamificacion: puntos, insignias y rachas</a:t>
            </a:r>
          </a:p>
        </p:txBody>
      </p:sp>
      <p:sp>
        <p:nvSpPr>
          <p:cNvPr id="44" name="Oval 43"/>
          <p:cNvSpPr/>
          <p:nvPr/>
        </p:nvSpPr>
        <p:spPr>
          <a:xfrm>
            <a:off x="8092440" y="5806440"/>
            <a:ext cx="91440" cy="9144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93608" y="575157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334455"/>
                </a:solidFill>
                <a:latin typeface="Segoe UI"/>
              </a:rPr>
              <a:t>Auditoria de acciones relevantes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02 · ARQUITECTURA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Arquitectura de la solucion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Aplicacion full-stack monolitica modular: el mismo proyecto sirve la interfaz y la API, sobre una unica base de datos relacional.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CAPA DE PRESENTACION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C8D8E8"/>
                </a:solidFill>
                <a:latin typeface="Segoe UI"/>
              </a:rPr>
              <a:t>React 18 · Server Components · 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901952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4ECF4"/>
                </a:solidFill>
                <a:latin typeface="Segoe UI"/>
              </a:rPr>
              <a:t>Landing · Catalogo · Aula virtual · Panel empresarial · Panel SuperAdmin · Verificacion publica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06624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CAPA DE APLICACION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C8D8E8"/>
                </a:solidFill>
                <a:latin typeface="Segoe UI"/>
              </a:rPr>
              <a:t>Next.js 14 App Router · Route Handlers (API REST)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980944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4ECF4"/>
                </a:solidFill>
                <a:latin typeface="Segoe UI"/>
              </a:rPr>
              <a:t>/api/auth · /api/aula · /api/empresa · /api/admin  —  validacion con Zod en cada endpoint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85615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13631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CAPA DE DOMINIO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C8D8E8"/>
                </a:solidFill>
                <a:latin typeface="Segoe UI"/>
              </a:rPr>
              <a:t>Servicios de negocio en 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059935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4ECF4"/>
                </a:solidFill>
                <a:latin typeface="Segoe UI"/>
              </a:rPr>
              <a:t>Motor de progreso · Calificacion de evaluaciones · Emision de certificados · RBAC · Auditoria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64607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07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92623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CAPA DE DATOS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C8D8E8"/>
                </a:solidFill>
                <a:latin typeface="Segoe UI"/>
              </a:rPr>
              <a:t>Prisma ORM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5138927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4ECF4"/>
                </a:solidFill>
                <a:latin typeface="Segoe UI"/>
              </a:rPr>
              <a:t>44 tablas · migraciones versionadas · SQLite en local / PostgreSQL en produccion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94360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60533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Flujo de una peticion:  Navegador  →  Server Component / Route Handler  →  Servicio de dominio  →  Prisma  →  Base de datos  →  Respuesta renderizada en servidor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03 · STACK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Stack tecnologico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Tecnologias seleccionadas para un despliegue economico, mantenible y facil de entregar a KG.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1106424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5943600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Componente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Tecnologia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Por que se eligio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A2D4D"/>
                          </a:solidFill>
                          <a:latin typeface="Segoe UI"/>
                        </a:rPr>
                        <a:t>Lenguaje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TypeScript 5.6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Tipado estatico de extremo a extremo: menos errores en produccion.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A2D4D"/>
                          </a:solidFill>
                          <a:latin typeface="Segoe UI"/>
                        </a:rPr>
                        <a:t>Framework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Next.js 14 (App Router)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Interfaz y API en un solo proyecto; renderizado en servidor.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A2D4D"/>
                          </a:solidFill>
                          <a:latin typeface="Segoe UI"/>
                        </a:rPr>
                        <a:t>Interfaz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React 18 + Tailwind CSS 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Design system propio con la paleta extraida del logo de KG.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A2D4D"/>
                          </a:solidFill>
                          <a:latin typeface="Segoe UI"/>
                        </a:rPr>
                        <a:t>ORM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Prisma 5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Modelo unico, migraciones versionadas y consultas con tipos.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A2D4D"/>
                          </a:solidFill>
                          <a:latin typeface="Segoe UI"/>
                        </a:rPr>
                        <a:t>Base de datos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SQLite (local) / PostgreSQL (produccion)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El mismo esquema funciona en ambos motores.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A2D4D"/>
                          </a:solidFill>
                          <a:latin typeface="Segoe UI"/>
                        </a:rPr>
                        <a:t>Autenticacion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JWT firmado (jose) + cookie HttpOnly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Sesion de 8 horas, sin dependencias externas de pago.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A2D4D"/>
                          </a:solidFill>
                          <a:latin typeface="Segoe UI"/>
                        </a:rPr>
                        <a:t>Contrasenas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bcryptjs (10 rondas)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Nunca se almacena la contrasena en texto plano.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A2D4D"/>
                          </a:solidFill>
                          <a:latin typeface="Segoe UI"/>
                        </a:rPr>
                        <a:t>Validacion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Zod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Cada endpoint valida su entrada antes de tocar la base de datos.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A2D4D"/>
                          </a:solidFill>
                          <a:latin typeface="Segoe UI"/>
                        </a:rPr>
                        <a:t>Certificados / QR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qrcode + impresion a PDF del navegador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Sin licencias adicionales; QR embebido en base64.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A2D4D"/>
                          </a:solidFill>
                          <a:latin typeface="Segoe UI"/>
                        </a:rPr>
                        <a:t>Contenido de cursos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Embebido (video, PDF, Genially, SCORM)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Segoe UI"/>
                        </a:rPr>
                        <a:t>El material vive en el proveedor; la plataforma lo referencia.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04 · INFRAESTRUCTURA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Ambientes de despliegue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Ambiente local para revision y ambiente productivo sobre Hostinger, segun el requisito tecnico del esqueleto funcional.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5349240" cy="502920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AMBIENTE LOCAL  ·  DESARROLLO Y REVISION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86000"/>
            <a:ext cx="484632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86584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Equipo del desarrollador / KG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Windows 11 · Node.js 20+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54096"/>
            <a:ext cx="484632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79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Servidor de aplicacion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next dev  —  http://localhost:3000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22191"/>
            <a:ext cx="484632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22776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Base de datos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SQLite  —  prisma/kg_academy.db (archivo)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590288"/>
            <a:ext cx="484632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90872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Archivos estaticos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/public  —  logotipo y recursos de marca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58383"/>
            <a:ext cx="484632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45896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Puesta en marcha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npm install  →  npm run setup  →  npm run dev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1572768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81928" y="1572768"/>
            <a:ext cx="5349240" cy="50292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6916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AMBIENTE PRODUCTIVO  ·  HOSTINGER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2286000"/>
            <a:ext cx="484632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386584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Dominio y SSL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kgacademy.co  —  certificado HTTPS de Hostinger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054096"/>
            <a:ext cx="484632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154679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Servidor de aplicacion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VPS Node.js  —  next start tras PM2 / systemd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822191"/>
            <a:ext cx="484632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3922776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Base de datos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PostgreSQL 15 gestionado  —  respaldo diario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4590288"/>
            <a:ext cx="484632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690872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Almacenamiento de contenido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Video y PDF en proveedor externo, embebidos por URL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5358383"/>
            <a:ext cx="4846320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545896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0A2D4D"/>
                </a:solidFill>
                <a:latin typeface="Segoe UI"/>
              </a:rPr>
              <a:t>Correo saliente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SMTP  —  bienvenida, recordatorios y certificados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172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Migrar de local a produccion solo requiere cambiar DATABASE_URL y el provider de Prisma a "postgresql". El resto del codigo permanece identico.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05 · MODELO DE DATOS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Mapa de dominios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44 tablas organizadas en 11 dominios funcionales. El diccionario detallado de cada dominio viene en las siguientes laminas.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352044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82296" cy="1060704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09928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1. Identidad y acceso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B7C8C"/>
                </a:solidFill>
                <a:latin typeface="Segoe UI"/>
              </a:rPr>
              <a:t>roles · permissions · role_permissions · users · sessions · password_reset_tokens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00200"/>
            <a:ext cx="352044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00200"/>
            <a:ext cx="82296" cy="1060704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709928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2. Empresas B2B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B7C8C"/>
                </a:solidFill>
                <a:latin typeface="Segoe UI"/>
              </a:rPr>
              <a:t>companies · company_locations · areas · positions · company_members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600200"/>
            <a:ext cx="352044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600200"/>
            <a:ext cx="82296" cy="1060704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7" y="1709928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3. Planes comerciales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B7C8C"/>
                </a:solidFill>
                <a:latin typeface="Segoe UI"/>
              </a:rPr>
              <a:t>plans · company_subscriptions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07208"/>
            <a:ext cx="352044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807208"/>
            <a:ext cx="82296" cy="1060704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916936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4. Catalogo de cursos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B7C8C"/>
                </a:solidFill>
                <a:latin typeface="Segoe UI"/>
              </a:rPr>
              <a:t>categories · courses · modules · lessons · lesson_resources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807208"/>
            <a:ext cx="352044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2807208"/>
            <a:ext cx="82296" cy="1060704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136" y="2916936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5. Matricula y progreso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B7C8C"/>
                </a:solidFill>
                <a:latin typeface="Segoe UI"/>
              </a:rPr>
              <a:t>enrollments · module_progress · lesson_progress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2807208"/>
            <a:ext cx="352044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1" y="2807208"/>
            <a:ext cx="82296" cy="1060704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7" y="2916936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6. Evaluaciones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B7C8C"/>
                </a:solidFill>
                <a:latin typeface="Segoe UI"/>
              </a:rPr>
              <a:t>question_banks · questions · question_options · assessments · assessment_questions · assessment_attempts · attempt_answers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014216"/>
            <a:ext cx="352044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014216"/>
            <a:ext cx="82296" cy="1060704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12394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7. Certificados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B7C8C"/>
                </a:solidFill>
                <a:latin typeface="Segoe UI"/>
              </a:rPr>
              <a:t>certificate_templates · certificates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4014216"/>
            <a:ext cx="352044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4014216"/>
            <a:ext cx="82296" cy="1060704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412394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8. Asignacion empresarial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B7C8C"/>
                </a:solidFill>
                <a:latin typeface="Segoe UI"/>
              </a:rPr>
              <a:t>assignment_batches · course_assignments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1" y="4014216"/>
            <a:ext cx="352044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28431" y="4014216"/>
            <a:ext cx="82296" cy="1060704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7" y="412394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9. Pagos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B7C8C"/>
                </a:solidFill>
                <a:latin typeface="Segoe UI"/>
              </a:rPr>
              <a:t>coupons · orders · order_items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221224"/>
            <a:ext cx="352044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5221224"/>
            <a:ext cx="82296" cy="1060704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5330952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10. Notificaciones y gamificacion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B7C8C"/>
                </a:solidFill>
                <a:latin typeface="Segoe UI"/>
              </a:rPr>
              <a:t>notification_templates · notifications · badges · user_badges · points_ledger · streaks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5221224"/>
            <a:ext cx="352044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5221224"/>
            <a:ext cx="82296" cy="1060704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17136" y="5330952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11. Sistema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B7C8C"/>
                </a:solidFill>
                <a:latin typeface="Segoe UI"/>
              </a:rPr>
              <a:t>audit_logs · system_settings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28431" y="5221224"/>
            <a:ext cx="3602736" cy="1060704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11312" y="53492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FBF16"/>
                </a:solidFill>
                <a:latin typeface="Segoe UI"/>
              </a:rPr>
              <a:t>44 TABLAS  ·  11 DOMINIOS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C8D8E8"/>
                </a:solidFill>
                <a:latin typeface="Segoe UI"/>
              </a:rPr>
              <a:t>Integridad referencial completa, borrado en cascada controlado e indices en las consultas criticas.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06 · DICCIONARIO DE DATOS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1. Identidad y acceso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Quien entra a la plataforma y que puede hacer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11064238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983"/>
                <a:gridCol w="2644838"/>
                <a:gridCol w="4760708"/>
                <a:gridCol w="2027709"/>
              </a:tblGrid>
              <a:tr h="32918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Tabla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Proposito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Campos principales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Relaciones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roles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Roles del sistema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code, name, scope, isSystem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1:N users · N:M permissions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permissions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Catalogo granular de permisos (modulo.accion)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code, module, action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N:M roles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role_permissions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Matriz de permisos por rol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roleId, permissionId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Union roles-permissions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users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Usuario unico (estudiante, trabajador, instructor o staff KG)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email, passwordHash, documentNumber, status, roleId, companyId, lastLoginAt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N:1 roles · N:1 companies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sessions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Sesiones activas con IP y user agent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userId, token, expiresAt, revokedAt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N:1 users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password_reset_tokens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Tokens de recuperacion de contrasena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userId, token, expiresAt, usedAt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N:1 users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06 · DICCIONARIO DE DATOS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2. Empresas B2B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Estructura organizacional del cliente corporativo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11064238" cy="3849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983"/>
                <a:gridCol w="2644838"/>
                <a:gridCol w="4760708"/>
                <a:gridCol w="2027709"/>
              </a:tblGrid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Tabla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Proposito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Campos principales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Relaciones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companies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Empresa cliente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nit, legalName, tradeName, economicSector, arl, riskLevel, status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1:N members, areas, positions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company_locations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Sedes de la empresa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companyId, name, city, address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N:1 companies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areas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Areas o departamentos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companyId, name, code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N:1 companies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positions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Cargos con su nivel de riesgo SST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companyId, name, riskLevel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N:1 companies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company_members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Vinculo usuario-empresa con su ubicacion organizacional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companyId, userId, areaId, positionId, locationId, employeeCode, status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N:1 users, companies, areas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plans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Planes comerciales B2B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code, name, maxUsers, pricePerMonth, features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1:N subscriptions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company_subscriptions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Plan contratado por cada empresa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companyId, planId, seats, startsAt, endsAt, status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N:1 companies, plans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06 · DICCIONARIO DE DATOS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3. Catalogo de cursos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Estructura pedagogica y contenedores de 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11064238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983"/>
                <a:gridCol w="2644838"/>
                <a:gridCol w="4760708"/>
                <a:gridCol w="2027709"/>
              </a:tblGrid>
              <a:tr h="32918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Tabla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Proposito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Campos principales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Relaciones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categories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Categorias y subcategorias del catalogo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slug, name, icon, color, parentId, order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Auto-relacion · 1:N courses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courses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Ficha completa del curso y sus reglas de negocio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code, slug, title, level, durationHours, price, status, progressRule, minPassingScore, maxAttempts, requiresFinalExam, certificateValidityMonths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N:1 categories · 1:N modules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modules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Modulos del curso con su peso en el progreso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courseId, title, order, weight, isRequired, isPublished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N:1 courses · 1:N lessons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lessons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Leccion y su contenedor de contenido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moduleId, title, order, contentType, contentUrl, contentBody, durationMin, completionRule, weight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N:1 modules · 1:N resources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lesson_resources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Anexos descargables de la leccion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lessonId, title, type, url, sizeKb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N:1 lessons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06 · DICCIONARIO DE DATOS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4. Matricula, progreso y trazabilidad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El nucleo del seguimiento academico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11064238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983"/>
                <a:gridCol w="2644838"/>
                <a:gridCol w="4760708"/>
                <a:gridCol w="2027709"/>
              </a:tblGrid>
              <a:tr h="32918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Tabla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Proposito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Campos principales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Relaciones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enrollments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Matricula del usuario en el curso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userId, courseId, origin, assignmentId, status, progress, startedAt, completedAt, finalScore, timeSpentSec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Unica por usuario+curso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module_progress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Estado de avance de cada modulo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enrollmentId, moduleId, status, progress, completedAt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N:1 enrollments, modules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lesson_progress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Avance detallado leccion a leccion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enrollmentId, lessonId, status, percent, timeSpentSec, lastPositionSec, views, completedAt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Soporta "continuar donde quedo"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assignment_batches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Lote de asignacion masiva para auditoria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companyId, courseId, createdById, dueDate, totalTargets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1:N assignments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course_assignments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Curso asignado por la empresa a un trabajador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companyId, courseId, userId, batchId, isMandatory, dueDate, status, notifiedAt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1:1 enrollment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06 · DICCIONARIO DE DATOS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5. Evaluaciones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Banco de preguntas, examenes e intentos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11064238" cy="3849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983"/>
                <a:gridCol w="2644838"/>
                <a:gridCol w="4760708"/>
                <a:gridCol w="2027709"/>
              </a:tblGrid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Tabla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Proposito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Campos principales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Relaciones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question_banks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Banco de preguntas por curso o tema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name, courseId, topic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1:N questions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questions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Pregunta con su retroalimentacion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bankId, type, statement, explanation, difficulty, points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1:N options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question_options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Opciones de respuesta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questionId, text, isCorrect, feedback, order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N:1 questions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assessments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Evaluacion diagnostica, por modulo o final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courseId, moduleId, type, minScore, maxAttempts, timeLimitMin, shuffleQuestions, showFeedback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1:N attempts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assessment_questions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Preguntas que componen cada evaluacion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assessmentId, questionId, order, points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Union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assessment_attempts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Intento presentado por el estudiante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assessmentId, enrollmentId, userId, attemptNo, score, correctCount, passed, durationSec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1:N answers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attempt_answers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Respuesta dada a cada pregunta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attemptId, questionId, optionId, isCorrect, points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N:1 attempts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06 · DICCIONARIO DE DATOS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6. Certificados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Emision, verificacion y revocacion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110642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983"/>
                <a:gridCol w="2644838"/>
                <a:gridCol w="4760708"/>
                <a:gridCol w="2027709"/>
              </a:tblGrid>
              <a:tr h="32918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Tabla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Proposito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Campos principales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Relaciones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certificate_templates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Plantilla con la identidad de KG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name, orientation, signerName, signerTitle, bodyTemplate, isDefault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1:N certificates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certificates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Certificado emitido con datos congelados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code, userId, courseId, enrollmentId, studentName, studentDocument, courseTitle, hours, finalScore, issuedAt, expiresAt, verifyUrl, qrDataUrl, status, revokedReason, revokedById, downloads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1:1 enrollment · codigo unico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06 · DICCIONARIO DE DATOS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7. Comercial, notificaciones y gamificacion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Modulos de soporte al negocio y a la experiencia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11064238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983"/>
                <a:gridCol w="2644838"/>
                <a:gridCol w="4760708"/>
                <a:gridCol w="2027709"/>
              </a:tblGrid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Tabla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Proposito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Campos principales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Relaciones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coupons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Cupones de descuento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code, discountType, discountValue, maxUses, endsAt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1:N orders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orders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Orden de compra B2C o B2B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reference, userId, companyId, subtotal, discount, total, status, gateway, paidAt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1:N items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order_items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Detalle de la orden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orderId, courseId, planId, concept, quantity, unitPrice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N:1 orders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notification_templates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Plantillas de aviso por canal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code, name, channel, subject, body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1:N notifications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notifications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Notificacion enviada al usuario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userId, templateId, channel, title, message, linkUrl, isRead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N:1 users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badges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Catalogo de insignias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code, name, criteria, points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N:M users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user_badges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Insignias obtenidas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userId, badgeId, earnedAt, reason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Union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points_ledger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Libro de puntos de gamificacion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userId, points, reason, refType, refId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N:1 users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streaks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Racha diaria de estudio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userId, currentDays, longestDays, lastActiveAt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1:1 users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06 · DICCIONARIO DE DATOS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8. Sistema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Trazabilidad y parametrizacion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110642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983"/>
                <a:gridCol w="2644838"/>
                <a:gridCol w="4760708"/>
                <a:gridCol w="2027709"/>
              </a:tblGrid>
              <a:tr h="32918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Tabla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Proposito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Campos principales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Relaciones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audit_logs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Registro de acciones relevantes con estado antes y despues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userId, actorEmail, action, entity, entityId, summary, beforeJson, afterJson, ipAddress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N:1 users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system_settings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Parametros configurables de la plataforma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key, value, type, group, label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Marca, certificados, seguridad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07 · REGLAS DE NEGOCIO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Motor de progreso y certificacion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Implementado en src/lib/progress.ts. Cada regla es configurable por curso desde la tabla courses.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7498079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728216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28216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Registro de la leccion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Al abrir una leccion se crea o actualiza lesson_progress con tiempo, posicion y numero de vistas.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77440"/>
            <a:ext cx="7498079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3232" y="2478024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78024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Calculo del porcentaje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Segun courses.progressRule: por lecciones obligatorias, por peso de lecciones o por peso de modulos.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27248"/>
            <a:ext cx="7498079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227832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227832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Estado de cada modulo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module_progress pasa a no iniciado, en progreso o completado segun sus lecciones.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77056"/>
            <a:ext cx="7498079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" y="3977640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77640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Condicion de aprobacion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Curso completado = 100% de lecciones obligatorias + evaluacion final aprobada (si es exigida).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26864"/>
            <a:ext cx="7498079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727448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727448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Emision del certificado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Se genera codigo unico, QR de verificacion y se congelan nombre, curso, horas y nota.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76672"/>
            <a:ext cx="7498079" cy="65836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5477256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477256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Sincronizacion B2B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La asignacion de la empresa cambia de estado y el trabajador recibe la notificacion.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1627632"/>
            <a:ext cx="3355848" cy="448056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1828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PARAMETROS POR CURSO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28600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progressRule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A9C4DD"/>
                </a:solidFill>
                <a:latin typeface="Segoe UI"/>
              </a:rPr>
              <a:t>obligatorios / peso_lecciones / peso_modulos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83464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minPassingScore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A9C4DD"/>
                </a:solidFill>
                <a:latin typeface="Segoe UI"/>
              </a:rPr>
              <a:t>Nota minima aprobatoria (80 por defecto)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38328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maxAttempts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A9C4DD"/>
                </a:solidFill>
                <a:latin typeface="Segoe UI"/>
              </a:rPr>
              <a:t>Intentos permitidos (3 por defecto)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93192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requiresFinalExam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A9C4DD"/>
                </a:solidFill>
                <a:latin typeface="Segoe UI"/>
              </a:rPr>
              <a:t>Exige evaluacion final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480559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requiresAllLessons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A9C4DD"/>
                </a:solidFill>
                <a:latin typeface="Segoe UI"/>
              </a:rPr>
              <a:t>Exige todas las lecciones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029199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certificateEnabled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A9C4DD"/>
                </a:solidFill>
                <a:latin typeface="Segoe UI"/>
              </a:rPr>
              <a:t>Emision automatica del certificado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577839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certificateValidityMonths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A9C4DD"/>
                </a:solidFill>
                <a:latin typeface="Segoe UI"/>
              </a:rPr>
              <a:t>Vigencia del certificado en meses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08 · SEGURIDAD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Control de acceso, privacidad y auditoria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Los permisos se validan en la interfaz y nuevamente en el servidor: ninguna respuesta depende solo del frontend.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54864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82296" cy="969264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46504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Autenticacion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JWT firmado con HS256 en cookie HttpOnly, SameSite Lax, vigencia de 8 horas. Registro en la tabla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627632"/>
            <a:ext cx="54864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627632"/>
            <a:ext cx="82296" cy="969264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746504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Contrasenas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Hash bcrypt con 10 rondas. La contrasena nunca viaja ni se guarda en texto plano.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43200"/>
            <a:ext cx="54864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743200"/>
            <a:ext cx="82296" cy="969264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862072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Control de acceso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6 roles y 72 permisos granulares (modulo.accion). requireRole() protege cada layout del servidor.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743200"/>
            <a:ext cx="54864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7648" y="2743200"/>
            <a:ext cx="82296" cy="969264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862072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Aislamiento entre empresas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Un administrador de empresa solo consulta y modifica registros de su propio companyId; se valida en cada endpoint.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58768"/>
            <a:ext cx="54864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858768"/>
            <a:ext cx="82296" cy="969264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977640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Proteccion de datos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Consentimiento explicito de tratamiento de datos (Ley 1581 de 2012) registrado con fecha en users.acceptedDataAt.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3858768"/>
            <a:ext cx="54864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3858768"/>
            <a:ext cx="82296" cy="969264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3977640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Auditoria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audit_logs conserva actor, accion, entidad, resumen y el estado antes y despues del cambio en JSON.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974336"/>
            <a:ext cx="54864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974336"/>
            <a:ext cx="82296" cy="969264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093208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Trazabilidad academica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El historico de lesson_progress y assessment_attempts nunca se borra por una edicion administrativa.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7648" y="4974336"/>
            <a:ext cx="54864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7648" y="4974336"/>
            <a:ext cx="82296" cy="969264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5093208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Verificacion publica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Los certificados se validan sin iniciar sesion mediante codigo unico y QR.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09 · ROADMAP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Estado actual y siguientes fases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Fase 1 entregada y funcionando. Las fases siguientes corresponden al backlog del punto 23 del esqueleto funcional.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Gestion Integral S.A.S.  ·  Desarrollado por Diego Alejandro Hernandez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26334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2633472" cy="475488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FASE 1  ·  ENTREGADA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331720"/>
            <a:ext cx="82296" cy="822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67712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Modelo de datos completo (44 tablas)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843784"/>
            <a:ext cx="82296" cy="822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7977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Autenticacion, roles y permisos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355848"/>
            <a:ext cx="82296" cy="822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Catalogo y aula virtual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867912"/>
            <a:ext cx="82296" cy="822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03904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Motor de progreso y evaluaciones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379976"/>
            <a:ext cx="82296" cy="822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159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Certificados con QR y verificacion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892040"/>
            <a:ext cx="82296" cy="822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28032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Panel empresarial y SuperAdmin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404104"/>
            <a:ext cx="82296" cy="822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009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Reportes CSV y auditoria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10712" y="1627632"/>
            <a:ext cx="26334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10712" y="1627632"/>
            <a:ext cx="2633472" cy="475488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FASE 2  ·  SIGUIENTE</a:t>
            </a:r>
          </a:p>
        </p:txBody>
      </p:sp>
      <p:sp>
        <p:nvSpPr>
          <p:cNvPr id="26" name="Oval 25"/>
          <p:cNvSpPr/>
          <p:nvPr/>
        </p:nvSpPr>
        <p:spPr>
          <a:xfrm>
            <a:off x="3575304" y="2331720"/>
            <a:ext cx="82296" cy="82296"/>
          </a:xfrm>
          <a:prstGeom prst="ellipse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58184" y="2267712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Pasarela de pagos (por definir con KG)</a:t>
            </a:r>
          </a:p>
        </p:txBody>
      </p:sp>
      <p:sp>
        <p:nvSpPr>
          <p:cNvPr id="28" name="Oval 27"/>
          <p:cNvSpPr/>
          <p:nvPr/>
        </p:nvSpPr>
        <p:spPr>
          <a:xfrm>
            <a:off x="3575304" y="2843784"/>
            <a:ext cx="82296" cy="82296"/>
          </a:xfrm>
          <a:prstGeom prst="ellipse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58184" y="277977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Planes B2B autogestionados</a:t>
            </a:r>
          </a:p>
        </p:txBody>
      </p:sp>
      <p:sp>
        <p:nvSpPr>
          <p:cNvPr id="30" name="Oval 29"/>
          <p:cNvSpPr/>
          <p:nvPr/>
        </p:nvSpPr>
        <p:spPr>
          <a:xfrm>
            <a:off x="3575304" y="3355848"/>
            <a:ext cx="82296" cy="82296"/>
          </a:xfrm>
          <a:prstGeom prst="ellipse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58184" y="329184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Envio de correo (SMTP)</a:t>
            </a:r>
          </a:p>
        </p:txBody>
      </p:sp>
      <p:sp>
        <p:nvSpPr>
          <p:cNvPr id="32" name="Oval 31"/>
          <p:cNvSpPr/>
          <p:nvPr/>
        </p:nvSpPr>
        <p:spPr>
          <a:xfrm>
            <a:off x="3575304" y="3867912"/>
            <a:ext cx="82296" cy="82296"/>
          </a:xfrm>
          <a:prstGeom prst="ellipse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58184" y="3803904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Editor visual de preguntas</a:t>
            </a:r>
          </a:p>
        </p:txBody>
      </p:sp>
      <p:sp>
        <p:nvSpPr>
          <p:cNvPr id="34" name="Oval 33"/>
          <p:cNvSpPr/>
          <p:nvPr/>
        </p:nvSpPr>
        <p:spPr>
          <a:xfrm>
            <a:off x="3575304" y="4379976"/>
            <a:ext cx="82296" cy="82296"/>
          </a:xfrm>
          <a:prstGeom prst="ellipse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58184" y="43159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Exportacion de reportes en PDF</a:t>
            </a:r>
          </a:p>
        </p:txBody>
      </p:sp>
      <p:sp>
        <p:nvSpPr>
          <p:cNvPr id="36" name="Oval 35"/>
          <p:cNvSpPr/>
          <p:nvPr/>
        </p:nvSpPr>
        <p:spPr>
          <a:xfrm>
            <a:off x="3575304" y="4892040"/>
            <a:ext cx="82296" cy="82296"/>
          </a:xfrm>
          <a:prstGeom prst="ellipse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58184" y="4828032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Carga masiva desde Excel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54496" y="1627632"/>
            <a:ext cx="26334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54496" y="1627632"/>
            <a:ext cx="2633472" cy="475488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FASE 3  ·  POSTERIOR</a:t>
            </a:r>
          </a:p>
        </p:txBody>
      </p:sp>
      <p:sp>
        <p:nvSpPr>
          <p:cNvPr id="40" name="Oval 39"/>
          <p:cNvSpPr/>
          <p:nvPr/>
        </p:nvSpPr>
        <p:spPr>
          <a:xfrm>
            <a:off x="6419088" y="2331720"/>
            <a:ext cx="82296" cy="82296"/>
          </a:xfrm>
          <a:prstGeom prst="ellipse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267712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Analitica avanzada y dashboards</a:t>
            </a:r>
          </a:p>
        </p:txBody>
      </p:sp>
      <p:sp>
        <p:nvSpPr>
          <p:cNvPr id="42" name="Oval 41"/>
          <p:cNvSpPr/>
          <p:nvPr/>
        </p:nvSpPr>
        <p:spPr>
          <a:xfrm>
            <a:off x="6419088" y="2843784"/>
            <a:ext cx="82296" cy="82296"/>
          </a:xfrm>
          <a:prstGeom prst="ellipse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1968" y="277977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Automatizaciones y recordatorios</a:t>
            </a:r>
          </a:p>
        </p:txBody>
      </p:sp>
      <p:sp>
        <p:nvSpPr>
          <p:cNvPr id="44" name="Oval 43"/>
          <p:cNvSpPr/>
          <p:nvPr/>
        </p:nvSpPr>
        <p:spPr>
          <a:xfrm>
            <a:off x="6419088" y="3355848"/>
            <a:ext cx="82296" cy="82296"/>
          </a:xfrm>
          <a:prstGeom prst="ellipse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01968" y="329184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Integracion con Power BI</a:t>
            </a:r>
          </a:p>
        </p:txBody>
      </p:sp>
      <p:sp>
        <p:nvSpPr>
          <p:cNvPr id="46" name="Oval 45"/>
          <p:cNvSpPr/>
          <p:nvPr/>
        </p:nvSpPr>
        <p:spPr>
          <a:xfrm>
            <a:off x="6419088" y="3867912"/>
            <a:ext cx="82296" cy="82296"/>
          </a:xfrm>
          <a:prstGeom prst="ellipse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03904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Firma electronica de certificados</a:t>
            </a:r>
          </a:p>
        </p:txBody>
      </p:sp>
      <p:sp>
        <p:nvSpPr>
          <p:cNvPr id="48" name="Oval 47"/>
          <p:cNvSpPr/>
          <p:nvPr/>
        </p:nvSpPr>
        <p:spPr>
          <a:xfrm>
            <a:off x="6419088" y="4379976"/>
            <a:ext cx="82296" cy="82296"/>
          </a:xfrm>
          <a:prstGeom prst="ellipse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01968" y="43159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Login con Google / Microsoft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98280" y="1627632"/>
            <a:ext cx="26334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098280" y="1627632"/>
            <a:ext cx="2633472" cy="475488"/>
          </a:xfrm>
          <a:prstGeom prst="roundRect">
            <a:avLst>
              <a:gd name="adj" fmla="val 6000"/>
            </a:avLst>
          </a:prstGeom>
          <a:solidFill>
            <a:srgbClr val="07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FASE 4  ·  FUTURO</a:t>
            </a:r>
          </a:p>
        </p:txBody>
      </p:sp>
      <p:sp>
        <p:nvSpPr>
          <p:cNvPr id="52" name="Oval 51"/>
          <p:cNvSpPr/>
          <p:nvPr/>
        </p:nvSpPr>
        <p:spPr>
          <a:xfrm>
            <a:off x="9262872" y="2331720"/>
            <a:ext cx="82296" cy="82296"/>
          </a:xfrm>
          <a:prstGeom prst="ellipse">
            <a:avLst/>
          </a:prstGeom>
          <a:solidFill>
            <a:srgbClr val="07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45752" y="2267712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Aplicacion movil nativa</a:t>
            </a:r>
          </a:p>
        </p:txBody>
      </p:sp>
      <p:sp>
        <p:nvSpPr>
          <p:cNvPr id="54" name="Oval 53"/>
          <p:cNvSpPr/>
          <p:nvPr/>
        </p:nvSpPr>
        <p:spPr>
          <a:xfrm>
            <a:off x="9262872" y="2843784"/>
            <a:ext cx="82296" cy="82296"/>
          </a:xfrm>
          <a:prstGeom prst="ellipse">
            <a:avLst/>
          </a:prstGeom>
          <a:solidFill>
            <a:srgbClr val="07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45752" y="277977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Marketplace de instructores externos</a:t>
            </a:r>
          </a:p>
        </p:txBody>
      </p:sp>
      <p:sp>
        <p:nvSpPr>
          <p:cNvPr id="56" name="Oval 55"/>
          <p:cNvSpPr/>
          <p:nvPr/>
        </p:nvSpPr>
        <p:spPr>
          <a:xfrm>
            <a:off x="9262872" y="3355848"/>
            <a:ext cx="82296" cy="82296"/>
          </a:xfrm>
          <a:prstGeom prst="ellipse">
            <a:avLst/>
          </a:prstGeom>
          <a:solidFill>
            <a:srgbClr val="07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45752" y="329184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Integracion con HRIS empresariales</a:t>
            </a:r>
          </a:p>
        </p:txBody>
      </p:sp>
      <p:sp>
        <p:nvSpPr>
          <p:cNvPr id="58" name="Oval 57"/>
          <p:cNvSpPr/>
          <p:nvPr/>
        </p:nvSpPr>
        <p:spPr>
          <a:xfrm>
            <a:off x="9262872" y="3867912"/>
            <a:ext cx="82296" cy="82296"/>
          </a:xfrm>
          <a:prstGeom prst="ellipse">
            <a:avLst/>
          </a:prstGeom>
          <a:solidFill>
            <a:srgbClr val="07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45752" y="3803904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API publica para clientes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527" y="777240"/>
            <a:ext cx="2834640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886200"/>
            <a:ext cx="94484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KG ACADEMY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1500" b="0">
                <a:solidFill>
                  <a:srgbClr val="8FBF16"/>
                </a:solidFill>
                <a:latin typeface="Segoe UI"/>
              </a:rPr>
              <a:t>Formacion que protege vidas, con la evidencia que su empresa necesita.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5D5E5"/>
                </a:solidFill>
                <a:latin typeface="Segoe UI"/>
              </a:rPr>
              <a:t>KG GESTION INTEGRAL S.A.S.  ·  KATERINE GUANARITA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1207" y="5623560"/>
            <a:ext cx="5669280" cy="566928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2647" y="5751576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8FBF16"/>
                </a:solidFill>
                <a:latin typeface="Segoe UI"/>
              </a:rPr>
              <a:t>Disenado y desarrollado por Diego Alejandro Hernandez Blanco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