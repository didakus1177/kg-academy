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19695" y="0"/>
            <a:ext cx="4572000" cy="6858000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4056" y="141732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37160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8FBF16"/>
                </a:solidFill>
                <a:latin typeface="Segoe UI"/>
              </a:rPr>
              <a:t>DOCUMENTO TÉCNICO  ·  VERSIÓN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67665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KG ACADEMY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8FBF16"/>
                </a:solidFill>
                <a:latin typeface="Segoe UI"/>
              </a:rPr>
              <a:t>Infraestructura y base de datos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703320"/>
            <a:ext cx="1371600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C5D5E5"/>
                </a:solidFill>
                <a:latin typeface="Segoe UI"/>
              </a:rPr>
              <a:t>Plataforma educativa LMS con capacidades B2C y B2B para la gestión, trazabilidad y certificación de la formación en Seguridad y Salud en el Trabajo.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3492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KG GESTIÓN INTEGRAL S.A.S.  ·  KATERINE GUAÑARITA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8FBF16"/>
                </a:solidFill>
                <a:latin typeface="Segoe UI"/>
              </a:rPr>
              <a:t>Realizado por Diego Alejandro Hernández Blanco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6B7C8C"/>
                </a:solidFill>
                <a:latin typeface="Segoe UI"/>
              </a:rPr>
              <a:t>Bogotá D.C., Colombia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CONTENIDO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Agenda del documento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" y="1700784"/>
            <a:ext cx="530352" cy="53035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8FBF16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1907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0A2D4D"/>
                </a:solidFill>
                <a:latin typeface="Segoe UI"/>
              </a:rPr>
              <a:t>Visión general y alcance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Que resuelve la plataforma y que incluye el MVP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05456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" y="2633472"/>
            <a:ext cx="530352" cy="53035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8FBF16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5176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0A2D4D"/>
                </a:solidFill>
                <a:latin typeface="Segoe UI"/>
              </a:rPr>
              <a:t>Arquitectura de la solución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Capas, responsabilidades y flujo de una petición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38144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" y="3566160"/>
            <a:ext cx="530352" cy="53035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8FBF16"/>
                </a:solidFill>
                <a:latin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58444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0A2D4D"/>
                </a:solidFill>
                <a:latin typeface="Segoe UI"/>
              </a:rPr>
              <a:t>Stack tecnológico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Tecnologías elegidas y justificación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370832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4498848"/>
            <a:ext cx="530352" cy="53035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8FBF16"/>
                </a:solidFill>
                <a:latin typeface="Segoe U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51713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0A2D4D"/>
                </a:solidFill>
                <a:latin typeface="Segoe UI"/>
              </a:rPr>
              <a:t>Infraestructura de despliegue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Ambiente local y ambiente productivo en Hostinger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03520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" y="5431536"/>
            <a:ext cx="530352" cy="53035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8FBF16"/>
                </a:solidFill>
                <a:latin typeface="Segoe U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44982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0A2D4D"/>
                </a:solidFill>
                <a:latin typeface="Segoe UI"/>
              </a:rPr>
              <a:t>Mapa del modelo de datos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11 dominios funcionales, 44 tablas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1572768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55664" y="1700784"/>
            <a:ext cx="530352" cy="53035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8FBF16"/>
                </a:solidFill>
                <a:latin typeface="Segoe U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171907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0A2D4D"/>
                </a:solidFill>
                <a:latin typeface="Segoe UI"/>
              </a:rPr>
              <a:t>Diccionario de tablas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Detalle campo a campo por dominio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7648" y="2505456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55664" y="2633472"/>
            <a:ext cx="530352" cy="53035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8FBF16"/>
                </a:solidFill>
                <a:latin typeface="Segoe UI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65176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0A2D4D"/>
                </a:solidFill>
                <a:latin typeface="Segoe UI"/>
              </a:rPr>
              <a:t>Motor de progreso y certificación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Reglas de negocio implementadas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27648" y="3438144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55664" y="3566160"/>
            <a:ext cx="530352" cy="53035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8FBF16"/>
                </a:solidFill>
                <a:latin typeface="Segoe UI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358444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0A2D4D"/>
                </a:solidFill>
                <a:latin typeface="Segoe UI"/>
              </a:rPr>
              <a:t>Seguridad, permisos y auditoría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Control de acceso y trazabilidad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7648" y="4370832"/>
            <a:ext cx="5486400" cy="786384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55664" y="4498848"/>
            <a:ext cx="530352" cy="530352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8FBF16"/>
                </a:solidFill>
                <a:latin typeface="Segoe UI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51713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0A2D4D"/>
                </a:solidFill>
                <a:latin typeface="Segoe UI"/>
              </a:rPr>
              <a:t>Roadmap por fases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C8C"/>
                </a:solidFill>
                <a:latin typeface="Segoe UI"/>
              </a:rPr>
              <a:t>Qué está listo y que sigue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01 · VISIÓN GENERAL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Qué es KG Academy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Plataforma tipo LMS/marketplace que combina formación virtual con gestión corporativa de la capacitación.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00200"/>
            <a:ext cx="3520440" cy="566928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373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B2C  ·  Estudiante independiente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7744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334455"/>
                </a:solidFill>
                <a:latin typeface="Segoe UI"/>
              </a:rPr>
              <a:t>Se registra, compra o accede a cursos, estudia, se evalúa y descarga su certificado.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0020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1688" y="1600200"/>
            <a:ext cx="3520440" cy="56692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17373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B2B  ·  Empresa cliente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856" y="237744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334455"/>
                </a:solidFill>
                <a:latin typeface="Segoe UI"/>
              </a:rPr>
              <a:t>Carga trabajadores, asigna cursos con fecha límite y consulta cumplimiento por área, cargo y sede.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160020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6448" y="1600200"/>
            <a:ext cx="3520440" cy="566928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73736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KG  ·  Administración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377440"/>
            <a:ext cx="3108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334455"/>
                </a:solidFill>
                <a:latin typeface="Segoe UI"/>
              </a:rPr>
              <a:t>Publica cursos y contenidos, administra usuarios, empresas, evaluaciones, certificados y reportes.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114800"/>
            <a:ext cx="11064240" cy="2057400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31596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ALCANCE DEL MVP IMPLEMENTADO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" y="4764024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" y="4709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Autenticación, registro y gestión de sesiones</a:t>
            </a:r>
          </a:p>
        </p:txBody>
      </p:sp>
      <p:sp>
        <p:nvSpPr>
          <p:cNvPr id="24" name="Oval 23"/>
          <p:cNvSpPr/>
          <p:nvPr/>
        </p:nvSpPr>
        <p:spPr>
          <a:xfrm>
            <a:off x="4480560" y="4764024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709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Roles, permisos y separación por empresa</a:t>
            </a:r>
          </a:p>
        </p:txBody>
      </p:sp>
      <p:sp>
        <p:nvSpPr>
          <p:cNvPr id="26" name="Oval 25"/>
          <p:cNvSpPr/>
          <p:nvPr/>
        </p:nvSpPr>
        <p:spPr>
          <a:xfrm>
            <a:off x="8092440" y="4764024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4709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Catálogo, ficha de curso y matrícula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" y="5111496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" y="505663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Aula virtual con progreso lección a lección</a:t>
            </a:r>
          </a:p>
        </p:txBody>
      </p:sp>
      <p:sp>
        <p:nvSpPr>
          <p:cNvPr id="30" name="Oval 29"/>
          <p:cNvSpPr/>
          <p:nvPr/>
        </p:nvSpPr>
        <p:spPr>
          <a:xfrm>
            <a:off x="4480560" y="5111496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505663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Evaluaciones con calificación automática</a:t>
            </a:r>
          </a:p>
        </p:txBody>
      </p:sp>
      <p:sp>
        <p:nvSpPr>
          <p:cNvPr id="32" name="Oval 31"/>
          <p:cNvSpPr/>
          <p:nvPr/>
        </p:nvSpPr>
        <p:spPr>
          <a:xfrm>
            <a:off x="8092440" y="5111496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505663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Certificados con código único y QR</a:t>
            </a:r>
          </a:p>
        </p:txBody>
      </p:sp>
      <p:sp>
        <p:nvSpPr>
          <p:cNvPr id="34" name="Oval 33"/>
          <p:cNvSpPr/>
          <p:nvPr/>
        </p:nvSpPr>
        <p:spPr>
          <a:xfrm>
            <a:off x="868680" y="5458968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9848" y="540410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Panel empresarial con asignación masiva</a:t>
            </a:r>
          </a:p>
        </p:txBody>
      </p:sp>
      <p:sp>
        <p:nvSpPr>
          <p:cNvPr id="36" name="Oval 35"/>
          <p:cNvSpPr/>
          <p:nvPr/>
        </p:nvSpPr>
        <p:spPr>
          <a:xfrm>
            <a:off x="4480560" y="5458968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1728" y="540410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Panel SuperAdmin y constructor de cursos</a:t>
            </a:r>
          </a:p>
        </p:txBody>
      </p:sp>
      <p:sp>
        <p:nvSpPr>
          <p:cNvPr id="38" name="Oval 37"/>
          <p:cNvSpPr/>
          <p:nvPr/>
        </p:nvSpPr>
        <p:spPr>
          <a:xfrm>
            <a:off x="8092440" y="5458968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93608" y="540410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Reportes exportables a CSV</a:t>
            </a:r>
          </a:p>
        </p:txBody>
      </p:sp>
      <p:sp>
        <p:nvSpPr>
          <p:cNvPr id="40" name="Oval 39"/>
          <p:cNvSpPr/>
          <p:nvPr/>
        </p:nvSpPr>
        <p:spPr>
          <a:xfrm>
            <a:off x="868680" y="5806440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75157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Notificaciones internas</a:t>
            </a:r>
          </a:p>
        </p:txBody>
      </p:sp>
      <p:sp>
        <p:nvSpPr>
          <p:cNvPr id="42" name="Oval 41"/>
          <p:cNvSpPr/>
          <p:nvPr/>
        </p:nvSpPr>
        <p:spPr>
          <a:xfrm>
            <a:off x="4480560" y="5806440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81728" y="575157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Gamificación: puntos, insignias y rachas</a:t>
            </a:r>
          </a:p>
        </p:txBody>
      </p:sp>
      <p:sp>
        <p:nvSpPr>
          <p:cNvPr id="44" name="Oval 43"/>
          <p:cNvSpPr/>
          <p:nvPr/>
        </p:nvSpPr>
        <p:spPr>
          <a:xfrm>
            <a:off x="8092440" y="5806440"/>
            <a:ext cx="91440" cy="9144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93608" y="575157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4455"/>
                </a:solidFill>
                <a:latin typeface="Segoe UI"/>
              </a:rPr>
              <a:t>Auditoría de acciones relevantes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02 · ARQUITECTURA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Arquitectura de la solución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Aplicación full-stack monolítica modular: el mismo proyecto sirve la interfaz y la API, sobre una única base de datos relacional.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11064240" cy="960120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55648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CAPA DE PRESENTACIÓN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C8D8E8"/>
                </a:solidFill>
                <a:latin typeface="Segoe UI"/>
              </a:rPr>
              <a:t>React 18 · Server Components · Tailwind CSS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901952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4ECF4"/>
                </a:solidFill>
                <a:latin typeface="Segoe UI"/>
              </a:rPr>
              <a:t>Landing · Catálogo · Aula virtual · Panel empresarial · Panel SuperAdmin · Verificación pública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06624"/>
            <a:ext cx="11064240" cy="960120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CAPA DE APLICACIÓN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C8D8E8"/>
                </a:solidFill>
                <a:latin typeface="Segoe UI"/>
              </a:rPr>
              <a:t>Next.js 14 App Router · Route Handlers (API 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980944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4ECF4"/>
                </a:solidFill>
                <a:latin typeface="Segoe UI"/>
              </a:rPr>
              <a:t>/api/auth · /api/aula · /api/empresa · /api/admin  —  validación con Zod en cada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85615"/>
            <a:ext cx="11064240" cy="96012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13631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CAPA DE DOMINIO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C8D8E8"/>
                </a:solidFill>
                <a:latin typeface="Segoe UI"/>
              </a:rPr>
              <a:t>Servicios de negocio en TypeScript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059935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4ECF4"/>
                </a:solidFill>
                <a:latin typeface="Segoe UI"/>
              </a:rPr>
              <a:t>Motor de progreso · Calificación de evaluaciones · Emisión de certificados · RBAC · Auditoría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64607"/>
            <a:ext cx="11064240" cy="960120"/>
          </a:xfrm>
          <a:prstGeom prst="roundRect">
            <a:avLst>
              <a:gd name="adj" fmla="val 6000"/>
            </a:avLst>
          </a:prstGeom>
          <a:solidFill>
            <a:srgbClr val="07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992623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CAPA DE DATOS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C8D8E8"/>
                </a:solidFill>
                <a:latin typeface="Segoe UI"/>
              </a:rPr>
              <a:t>Prisma ORM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138927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E4ECF4"/>
                </a:solidFill>
                <a:latin typeface="Segoe UI"/>
              </a:rPr>
              <a:t>44 tablas · migraciones versionadas · SQLite en local / PostgreSQL en producción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94360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E9F4C8"/>
          </a:solidFill>
          <a:ln w="12700">
            <a:solidFill>
              <a:srgbClr val="8FBF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605332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Flujo de una petición:  Navegador  →  Server Component / Route Handler  →  Servicio de dominio  →  Prisma  →  Base de datos  →  Respuesta renderizada en servidor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03 · STACK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Stack tecnológico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Tecnologías seleccionadas para un despliegue economico, mantenible y fácil de entregar a KG.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6424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Componente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Tecnología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Por que se eligio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Lenguaje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TypeScript 5.6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Tipado estático de extremo a extremo: menos errores en producción.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Framework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Next.js 14 (App Router)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Interfaz y API en un solo proyecto; renderizado en servidor.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Interfaz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React 18 + Tailwind CSS 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Design system propio con la paleta extraida del logo de KG.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ORM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Prisma 5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Modelo único, migraciones versionadas y consultas con tipos.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Base de datos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SQLite (local) / PostgreSQL (producción)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El mismo esquema funciona en ambos motores.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Autenticación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JWT firmado (jose) + cookie HttpOnly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Sesión de 8 horas, sin dependencias externas de pago.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Contraseñas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bcryptjs (10 rondas)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Nunca se almacena la contraseña en texto plano.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Validación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Zod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Cada endpoint válida su entrada antes de tocar la base de datos.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Certificados / QR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qrcode + impresion a PDF del navegador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Sin licencias adicionales; QR embebido en base64.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A2D4D"/>
                          </a:solidFill>
                          <a:latin typeface="Segoe UI"/>
                        </a:rPr>
                        <a:t>Contenido de cursos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Embebido (video, PDF, Genially, SCORM)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34455"/>
                          </a:solidFill>
                          <a:latin typeface="Segoe UI"/>
                        </a:rPr>
                        <a:t>El material vive en el proveedor; la plataforma lo referencia.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04 · INFRAESTRUCTURA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Ambientes de despliegue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Ambiente local para revisión y ambiente productivo sobre Hostinger, según el requisito técnico del esqueleto funcional.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34924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72768"/>
            <a:ext cx="5349240" cy="502920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916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AMBIENTE LOCAL  ·  DESARROLLO Y REVISIÓN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386584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Equipo del desarrollador / KG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Windows 11 · Node.js 20+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054096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154679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Servidor de aplicación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next dev  —  http://localhost:3000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22191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922776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Base de datos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SQLite  —  prisma/kg_academy.db (archivo)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590288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690872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Archivos estáticos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/public  —  logotipo y recursos de marca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58383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458968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Puesta en marcha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npm install  →  npm run setup  →  npm run dev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1928" y="1572768"/>
            <a:ext cx="534924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81928" y="1572768"/>
            <a:ext cx="5349240" cy="50292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6916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AMBIENTE PRODUCTIVO  ·  HOSTINGER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2286000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2386584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Dominio y SSL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kgacademy.co  —  certificado HTTPS de Hostinger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3054096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154679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Servidor de aplicación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VPS Node.js  —  next start tras PM2 / systemd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3822191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3922776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Base de datos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PostgreSQL 15 gestionado  —  respaldo diario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4590288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4690872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Almacenamiento de contenido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Video y PDF en proveedor externo, embebidos por URL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358383"/>
            <a:ext cx="4846320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5458968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>
                <a:solidFill>
                  <a:srgbClr val="0A2D4D"/>
                </a:solidFill>
                <a:latin typeface="Segoe UI"/>
              </a:rPr>
              <a:t>Correo saliente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7C8C"/>
                </a:solidFill>
                <a:latin typeface="Segoe UI"/>
              </a:rPr>
              <a:t>SMTP  —  bienvenida, recordatorios y certificados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722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A2D4D"/>
                </a:solidFill>
                <a:latin typeface="Segoe UI"/>
              </a:rPr>
              <a:t>Migrar de local a producción solo requiere cambiar DATABASE_URL y el provider de Prisma a "postgresql". El resto del código permanece identico.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05 · MODELO DE DATOS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Mapa de dominios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44 tablas organizadas en 11 dominios funcionales. El diccionario detallado de cada dominio viene en las siguientes laminas.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00200"/>
            <a:ext cx="82296" cy="1060704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09928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1. Identidad y acceso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roles · permissions · role_permissions · users · sessions · password_reset_tokens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00200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600200"/>
            <a:ext cx="82296" cy="1060704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709928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2. Empresas B2B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companies · company_locations · áreas · positions · company_members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600200"/>
            <a:ext cx="82296" cy="1060704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7" y="1709928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3. Planes comerciales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plans · company_subscriptions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807208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807208"/>
            <a:ext cx="82296" cy="106070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2916936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4. Catálogo de cursos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categories · courses · modules · lessons · lesson_resources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2807208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807208"/>
            <a:ext cx="82296" cy="106070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136" y="2916936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5. Matrícula y progreso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enrollments · module_progress · lesson_progress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28431" y="2807208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28431" y="2807208"/>
            <a:ext cx="82296" cy="1060704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7" y="2916936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6. Evaluaciones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question_banks · questions · question_options · assessments · assessment_questions · assessment_attempts · attempt_answers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014216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014216"/>
            <a:ext cx="82296" cy="106070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123944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7. Certificados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certificate_templates · certificates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014216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4014216"/>
            <a:ext cx="82296" cy="1060704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4123944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8. Asignación empresarial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assignment_batches · course_assignments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28431" y="4014216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28431" y="4014216"/>
            <a:ext cx="82296" cy="1060704"/>
          </a:xfrm>
          <a:prstGeom prst="rect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7887" y="4123944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9. Pagos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coupons · orders · order_items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5221224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221224"/>
            <a:ext cx="82296" cy="106070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330952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10. Notificaciones y gamificación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notification_templates · notifications · badges · user_badges · points_ledger · streaks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5221224"/>
            <a:ext cx="3520440" cy="10607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97680" y="5221224"/>
            <a:ext cx="82296" cy="1060704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5330952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11. Sistema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6B7C8C"/>
                </a:solidFill>
                <a:latin typeface="Segoe UI"/>
              </a:rPr>
              <a:t>audit_logs · system_settings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28431" y="5221224"/>
            <a:ext cx="3602736" cy="1060704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11312" y="53492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8FBF16"/>
                </a:solidFill>
                <a:latin typeface="Segoe UI"/>
              </a:rPr>
              <a:t>44 TABLAS  ·  11 DOMINIOS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C8D8E8"/>
                </a:solidFill>
                <a:latin typeface="Segoe UI"/>
              </a:rPr>
              <a:t>Integridad referencial completa, borrado en cascada controlado e indices en las consultas criticas.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06 · DICCIONARIO DE DATOS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1. Identidad y acceso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Quién entra a la plataforma y que puede hacer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64238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983"/>
                <a:gridCol w="2644838"/>
                <a:gridCol w="4760708"/>
                <a:gridCol w="2027709"/>
              </a:tblGrid>
              <a:tr h="32918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Tabla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Proposito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Campos principales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Relaciones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roles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Roles del sistema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code, name, scope, isSystem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1:N users · N:M permissions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permissions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Catálogo granular de permisos (módulo.acción)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code, module, action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N:M roles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role_permissions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Matriz de permisos por rol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roleId, permissionId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Union roles-permissions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users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Usuario único (estudiante, trabajador, instructor o staff KG)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email, passwordHash, documentNumber, status, roleId, companyId, lastLoginAt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N:1 roles · N:1 companies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sessions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Sesiones activas con IP y user agent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userId, token, expiresAt, revokedAt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N:1 users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password_reset_tokens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Tokens de recuperación de contraseña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userId, token, expiresAt, usedAt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N:1 users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06 · DICCIONARIO DE DATOS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2. Empresas B2B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Estructura organizacional del cliente corporativo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64238" cy="3849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983"/>
                <a:gridCol w="2644838"/>
                <a:gridCol w="4760708"/>
                <a:gridCol w="2027709"/>
              </a:tblGrid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Tabla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Proposito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Campos principales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Relaciones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companies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Empresa cliente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nit, legalName, tradeName, economicSector, arl, riskLevel, status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1:N members, áreas, positions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company_locations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Sedes de la empresa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companyId, name, city, address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companies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areas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Áreas o departamentos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companyId, name, code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companies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positions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Cargos con su nivel de riesgo SST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companyId, name, riskLevel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companies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company_members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Vinculo usuario-empresa con su ubicacion organizacional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companyId, userId, areaId, positionId, locationId, employeeCode, status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users, companies, áreas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plans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Planes comerciales B2B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code, name, maxUsers, pricePerMonth, features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1:N subscriptions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company_subscriptions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Plan contratado por cada empresa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companyId, planId, seats, startsAt, endsAt, status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companies, plans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06 · DICCIONARIO DE DATOS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3. Catálogo de cursos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Estructura pedagógica y contenedores de contenido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64238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983"/>
                <a:gridCol w="2644838"/>
                <a:gridCol w="4760708"/>
                <a:gridCol w="2027709"/>
              </a:tblGrid>
              <a:tr h="32918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Tabla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Proposito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Campos principales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Relaciones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categories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Categorías y subcategorias del catálogo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slug, name, icon, color, parentId, order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Auto-relacion · 1:N courses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courses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Ficha completa del curso y sus reglas de negocio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code, slug, title, level, durationHours, price, status, progressRule, minPassingScore, maxAttempts, requiresFinalExam, certificateValidityMonths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N:1 categories · 1:N modules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modules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Módulos del curso con su peso en el progreso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courseId, title, order, weight, isRequired, isPublished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N:1 courses · 1:N lessons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lessons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Lección y su contenedor de contenido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moduleId, title, order, contentType, contentUrl, contentBody, durationMin, completionRule, weight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N:1 modules · 1:N resources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lesson_resources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Anexos descargables de la lección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lessonId, title, type, url, sizeKb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N:1 lessons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06 · DICCIONARIO DE DATOS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4. Matrícula, progreso y trazabilidad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El nucleo del seguimiento academico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64238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983"/>
                <a:gridCol w="2644838"/>
                <a:gridCol w="4760708"/>
                <a:gridCol w="2027709"/>
              </a:tblGrid>
              <a:tr h="32918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Tabla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Proposito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Campos principales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Relaciones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enrollments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Matrícula del usuario en el curso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userId, courseId, origin, assignmentId, status, progress, startedAt, completedAt, finalScore, timeSpentSec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Única por usuario+curso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module_progress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Estado de avance de cada módulo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enrollmentId, moduleId, status, progress, completedAt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N:1 enrollments, modules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lesson_progress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Avance detallado lección a lección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enrollmentId, lessonId, status, percent, timeSpentSec, lastPositionSec, views, completedAt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Soporta "continuar donde quedó"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assignment_batches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Lote de asignación masiva para auditoría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companyId, courseId, createdById, dueDate, totalTargets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1:N assignments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course_assignments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Curso asignado por la empresa a un trabajador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companyId, courseId, userId, batchId, isMandatory, dueDate, status, notifiedAt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1:1 enrollment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06 · DICCIONARIO DE DATOS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5. Evaluaciones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Banco de preguntas, examenes e intentos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64238" cy="3849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983"/>
                <a:gridCol w="2644838"/>
                <a:gridCol w="4760708"/>
                <a:gridCol w="2027709"/>
              </a:tblGrid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Tabla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Proposito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Campos principales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Relaciones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question_banks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Banco de preguntas por curso o tema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name, courseId, topic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1:N questions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questions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Pregunta con su retroalimentacion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bankId, type, statement, explanation, difficulty, points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1:N options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question_options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Opciones de respuesta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questionId, text, isCorrect, feedback, order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questions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assessments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Evaluación diagnostica, por módulo o final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courseId, moduleId, type, minScore, maxAttempts, timeLimitMin, shuffleQuestions, showFeedback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1:N attempts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assessment_questions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Preguntas que componen cada evaluación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assessmentId, questionId, order, points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Union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assessment_attempts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Intento presentado por el estudiante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assessmentId, enrollmentId, userId, attemptNo, score, correctCount, passed, durationSec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1:N answers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attempt_answers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Respuesta dada a cada pregunta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attemptId, questionId, optionId, isCorrect, points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attempts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06 · DICCIONARIO DE DATOS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6. Certificados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Emisión, verificación y revocación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642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983"/>
                <a:gridCol w="2644838"/>
                <a:gridCol w="4760708"/>
                <a:gridCol w="2027709"/>
              </a:tblGrid>
              <a:tr h="32918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Tabla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Proposito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Campos principales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Relaciones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certificate_templates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Plantilla con la identidad de KG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name, orientation, signerName, signerTitle, bodyTemplate, isDefault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1:N certificates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certificates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Certificado emitido con datos congelados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code, userId, courseId, enrollmentId, studentName, studentDocument, courseTitle, hours, finalScore, issuedAt, expiresAt, verifyUrl, qrDataUrl, status, revokedReason, revokedById, downloads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1:1 enrollment · código único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06 · DICCIONARIO DE DATOS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7. Comercial, notificaciones y gamificación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Módulos de soporte al negocio y a la experiencia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64238" cy="4443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983"/>
                <a:gridCol w="2644838"/>
                <a:gridCol w="4760708"/>
                <a:gridCol w="2027709"/>
              </a:tblGrid>
              <a:tr h="32918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Tabla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Proposito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Campos principales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Relaciones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coupons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Cupones de descuento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code, discountType, discountValue, maxUses, endsAt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1:N orders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orders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Orden de compra B2C o B2B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reference, userId, companyId, subtotal, discount, total, status, gateway, paidAt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1:N items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order_items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Detalle de la orden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orderId, courseId, planId, concept, quantity, unitPrice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orders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notification_templates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Plantillas de aviso por canal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code, name, channel, subject, body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1:N notifications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notifications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Notificación enviada al usuario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userId, templateId, channel, title, message, linkUrl, isRead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users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badges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Catálogo de insignias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code, name, criteria, points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N:M users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user_badges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Insignias obtenidas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userId, badgeId, earnedAt, reason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Union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points_ledger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Libro de puntos de gamificación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userId, points, reason, refType, refId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N:1 users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0A2D4D"/>
                          </a:solidFill>
                          <a:latin typeface="Segoe UI"/>
                        </a:rPr>
                        <a:t>streaks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Racha diaria de estudio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userId, currentDays, longestDays, lastActiveAt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334455"/>
                          </a:solidFill>
                          <a:latin typeface="Segoe UI"/>
                        </a:rPr>
                        <a:t>1:1 users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06 · DICCIONARIO DE DATOS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8. Sistema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Trazabilidad y parametrizacion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00200"/>
          <a:ext cx="110642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983"/>
                <a:gridCol w="2644838"/>
                <a:gridCol w="4760708"/>
                <a:gridCol w="2027709"/>
              </a:tblGrid>
              <a:tr h="32918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Tabla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Proposito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Campos principales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Relaciones</a:t>
                      </a:r>
                    </a:p>
                  </a:txBody>
                  <a:tcPr marL="64008" marR="64008" anchor="ctr">
                    <a:solidFill>
                      <a:srgbClr val="0A2D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audit_logs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Registro de acciones relevantes con estado antes y después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userId, actorEmail, action, entity, entityId, summary, beforeJson, afterJson, ipAddress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N:1 users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A2D4D"/>
                          </a:solidFill>
                          <a:latin typeface="Segoe UI"/>
                        </a:rPr>
                        <a:t>system_settings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Parametros configurables de la plataforma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key, value, type, group, label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4455"/>
                          </a:solidFill>
                          <a:latin typeface="Segoe UI"/>
                        </a:rPr>
                        <a:t>Marca, certificados, seguridad</a:t>
                      </a:r>
                    </a:p>
                  </a:txBody>
                  <a:tcPr marL="64008" marR="64008" marT="18288" marB="18288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07 · REGLAS DE NEGOCIO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Motor de progreso y certificación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Implementado en src/lib/progress.ts. Cada regla es configurable por curso desde la tabla courses.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7498079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1728216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728216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Registro de la lección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Al abrir una lección se crea o actualiza lesson_progress con tiempo, posicion y número de vistas.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377440"/>
            <a:ext cx="7498079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3232" y="2478024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78024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Calculo del porcentaje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Según courses.progressRule: por lecciones obligatorias, por peso de lecciones o por peso de módulos.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27248"/>
            <a:ext cx="7498079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3227832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227832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Estado de cada módulo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module_progress pasa a no iniciado, en progreso o completado según sus lecciones.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77056"/>
            <a:ext cx="7498079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3232" y="3977640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977640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Condicion de aprobación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Curso completado = 100% de lecciones obligatorias + evaluación final aprobada (si es exigida).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26864"/>
            <a:ext cx="7498079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4727448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727448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Emisión del certificado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Se genera código único, QR de verificación y se congelan nombre, curso, horas y nota.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7498079" cy="658368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3232" y="5477256"/>
            <a:ext cx="457200" cy="457200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2D4D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5477256"/>
            <a:ext cx="6583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Sincronizacion B2B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La asignación de la empresa cambia de estado y el trabajador recibe la notificación.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1627632"/>
            <a:ext cx="3355848" cy="4480560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1828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8FBF16"/>
                </a:solidFill>
                <a:latin typeface="Segoe UI"/>
              </a:rPr>
              <a:t>PARAMETROS POR CURSO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28600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progressRule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A9C4DD"/>
                </a:solidFill>
                <a:latin typeface="Segoe UI"/>
              </a:rPr>
              <a:t>obligatorios / peso_lecciones / peso_modulos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283464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minPassingScore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A9C4DD"/>
                </a:solidFill>
                <a:latin typeface="Segoe UI"/>
              </a:rPr>
              <a:t>Nota mínima aprobatoria (80 por defecto)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38328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maxAttempts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A9C4DD"/>
                </a:solidFill>
                <a:latin typeface="Segoe UI"/>
              </a:rPr>
              <a:t>Intentos permitidos (3 por defecto)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931920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requiresFinalExam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A9C4DD"/>
                </a:solidFill>
                <a:latin typeface="Segoe UI"/>
              </a:rPr>
              <a:t>Exige evaluación final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480559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requiresAllLessons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A9C4DD"/>
                </a:solidFill>
                <a:latin typeface="Segoe UI"/>
              </a:rPr>
              <a:t>Exige todas las lecciones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5029199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certificateEnabled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A9C4DD"/>
                </a:solidFill>
                <a:latin typeface="Segoe UI"/>
              </a:rPr>
              <a:t>Emisión automática del certificado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577839"/>
            <a:ext cx="2926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certificateValidityMonths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A9C4DD"/>
                </a:solidFill>
                <a:latin typeface="Segoe UI"/>
              </a:rPr>
              <a:t>Vigencia del certificado en meses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08 · SEGURIDAD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Control de acceso, privacidad y auditoría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Los permisos se validan en la interfaz y nuevamente en el servidor: ninguna respuesta depende solo del frontend.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82296" cy="96926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46504"/>
            <a:ext cx="5074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Autenticación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JWT firmado con HS256 en cookie HttpOnly, SameSite Lax, vigencia de 8 horas. Registro en la tabla sessions.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8" y="1627632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7648" y="1627632"/>
            <a:ext cx="82296" cy="96926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746504"/>
            <a:ext cx="5074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Contraseñas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Hash bcrypt con 10 rondas. La contraseña nunca viaja ni se guarda en texto plano.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43200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743200"/>
            <a:ext cx="82296" cy="96926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62072"/>
            <a:ext cx="5074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Control de acceso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6 roles y 72 permisos granulares (módulo.acción). requireRole() protege cada layout del servidor.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743200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2743200"/>
            <a:ext cx="82296" cy="96926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862072"/>
            <a:ext cx="5074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Aislamiento entre empresas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Un administrador de empresa solo consulta y modifica registros de su propio companyId; se válida en cada endpoint.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858768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858768"/>
            <a:ext cx="82296" cy="96926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977640"/>
            <a:ext cx="5074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Protección de datos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Consentimiento explicito de tratamiento de datos (Ley 1581 de 2012) registrado con fecha en users.acceptedDataAt.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27648" y="3858768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7648" y="3858768"/>
            <a:ext cx="82296" cy="96926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3977640"/>
            <a:ext cx="5074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Auditoría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audit_logs conserva actor, acción, entidad, resumen y el estado antes y después del cambio en JSON.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974336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974336"/>
            <a:ext cx="82296" cy="96926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093208"/>
            <a:ext cx="5074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Trazabilidad academica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El histórico de lesson_progress y assessment_attempts nunca se borra por una edición administrativa.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27648" y="4974336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4974336"/>
            <a:ext cx="82296" cy="969264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5392" y="5093208"/>
            <a:ext cx="5074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A2D4D"/>
                </a:solidFill>
                <a:latin typeface="Segoe UI"/>
              </a:rPr>
              <a:t>Verificación pública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6B7C8C"/>
                </a:solidFill>
                <a:latin typeface="Segoe UI"/>
              </a:rPr>
              <a:t>Los certificados se validan sin iniciar sesión mediante código único y QR.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800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87" y="146304"/>
            <a:ext cx="877824" cy="877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82880"/>
            <a:ext cx="10180015" cy="932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1">
                <a:solidFill>
                  <a:srgbClr val="8FBF16"/>
                </a:solidFill>
                <a:latin typeface="Segoe UI"/>
              </a:rPr>
              <a:t>09 · ROADMAP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Estado actual y siguientes fases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8C8D8"/>
                </a:solidFill>
                <a:latin typeface="Segoe UI"/>
              </a:rPr>
              <a:t>Fase 1 entregada y funcionando. Las fases siguientes corresponden al backlog del punto 23 del esqueleto funcional.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C8C"/>
                </a:solidFill>
                <a:latin typeface="Segoe UI"/>
              </a:rPr>
              <a:t>KG Academy  ·  KG Gestión Integral S.A.S.  ·  Desarrollado por Diego Alejandro Hernández Blanco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0A2D4D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26334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2633472" cy="475488"/>
          </a:xfrm>
          <a:prstGeom prst="roundRect">
            <a:avLst>
              <a:gd name="adj" fmla="val 6000"/>
            </a:avLst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FASE 1  ·  ENTREGADA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331720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67712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Modelo de datos completo (44 tablas)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843784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79776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Autenticación, roles y permisos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355848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91840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Catálogo y aula virtual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867912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03904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Motor de progreso y evaluaciones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379976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15968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Certificados con QR y verificación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892040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828032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Panel empresarial y SuperAdmin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404104"/>
            <a:ext cx="82296" cy="82296"/>
          </a:xfrm>
          <a:prstGeom prst="ellipse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0096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Reportes CSV y auditoría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0712" y="1627632"/>
            <a:ext cx="26334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10712" y="1627632"/>
            <a:ext cx="2633472" cy="47548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FASE 2  ·  SIGUIENTE</a:t>
            </a:r>
          </a:p>
        </p:txBody>
      </p:sp>
      <p:sp>
        <p:nvSpPr>
          <p:cNvPr id="26" name="Oval 25"/>
          <p:cNvSpPr/>
          <p:nvPr/>
        </p:nvSpPr>
        <p:spPr>
          <a:xfrm>
            <a:off x="3575304" y="2331720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58184" y="2267712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Pasarela de pagos (por definir con KG)</a:t>
            </a:r>
          </a:p>
        </p:txBody>
      </p:sp>
      <p:sp>
        <p:nvSpPr>
          <p:cNvPr id="28" name="Oval 27"/>
          <p:cNvSpPr/>
          <p:nvPr/>
        </p:nvSpPr>
        <p:spPr>
          <a:xfrm>
            <a:off x="3575304" y="2843784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58184" y="2779776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Planes B2B autogestionados</a:t>
            </a:r>
          </a:p>
        </p:txBody>
      </p:sp>
      <p:sp>
        <p:nvSpPr>
          <p:cNvPr id="30" name="Oval 29"/>
          <p:cNvSpPr/>
          <p:nvPr/>
        </p:nvSpPr>
        <p:spPr>
          <a:xfrm>
            <a:off x="3575304" y="3355848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291840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Envío de correo (SMTP)</a:t>
            </a:r>
          </a:p>
        </p:txBody>
      </p:sp>
      <p:sp>
        <p:nvSpPr>
          <p:cNvPr id="32" name="Oval 31"/>
          <p:cNvSpPr/>
          <p:nvPr/>
        </p:nvSpPr>
        <p:spPr>
          <a:xfrm>
            <a:off x="3575304" y="3867912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58184" y="3803904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Editor visual de preguntas</a:t>
            </a:r>
          </a:p>
        </p:txBody>
      </p:sp>
      <p:sp>
        <p:nvSpPr>
          <p:cNvPr id="34" name="Oval 33"/>
          <p:cNvSpPr/>
          <p:nvPr/>
        </p:nvSpPr>
        <p:spPr>
          <a:xfrm>
            <a:off x="3575304" y="4379976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58184" y="4315968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Exportación de reportes en PDF</a:t>
            </a:r>
          </a:p>
        </p:txBody>
      </p:sp>
      <p:sp>
        <p:nvSpPr>
          <p:cNvPr id="36" name="Oval 35"/>
          <p:cNvSpPr/>
          <p:nvPr/>
        </p:nvSpPr>
        <p:spPr>
          <a:xfrm>
            <a:off x="3575304" y="4892040"/>
            <a:ext cx="82296" cy="82296"/>
          </a:xfrm>
          <a:prstGeom prst="ellipse">
            <a:avLst/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58184" y="4828032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Carga masiva desde Excel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54496" y="1627632"/>
            <a:ext cx="26334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54496" y="1627632"/>
            <a:ext cx="2633472" cy="475488"/>
          </a:xfrm>
          <a:prstGeom prst="roundRect">
            <a:avLst>
              <a:gd name="adj" fmla="val 6000"/>
            </a:avLst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FASE 3  ·  POSTERIOR</a:t>
            </a:r>
          </a:p>
        </p:txBody>
      </p:sp>
      <p:sp>
        <p:nvSpPr>
          <p:cNvPr id="40" name="Oval 39"/>
          <p:cNvSpPr/>
          <p:nvPr/>
        </p:nvSpPr>
        <p:spPr>
          <a:xfrm>
            <a:off x="6419088" y="2331720"/>
            <a:ext cx="82296" cy="82296"/>
          </a:xfrm>
          <a:prstGeom prst="ellipse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2267712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Analitica avanzada y dashboards</a:t>
            </a:r>
          </a:p>
        </p:txBody>
      </p:sp>
      <p:sp>
        <p:nvSpPr>
          <p:cNvPr id="42" name="Oval 41"/>
          <p:cNvSpPr/>
          <p:nvPr/>
        </p:nvSpPr>
        <p:spPr>
          <a:xfrm>
            <a:off x="6419088" y="2843784"/>
            <a:ext cx="82296" cy="82296"/>
          </a:xfrm>
          <a:prstGeom prst="ellipse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2779776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Automatizaciones y recordatorios</a:t>
            </a:r>
          </a:p>
        </p:txBody>
      </p:sp>
      <p:sp>
        <p:nvSpPr>
          <p:cNvPr id="44" name="Oval 43"/>
          <p:cNvSpPr/>
          <p:nvPr/>
        </p:nvSpPr>
        <p:spPr>
          <a:xfrm>
            <a:off x="6419088" y="3355848"/>
            <a:ext cx="82296" cy="82296"/>
          </a:xfrm>
          <a:prstGeom prst="ellipse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01968" y="3291840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Integracion con Power BI</a:t>
            </a:r>
          </a:p>
        </p:txBody>
      </p:sp>
      <p:sp>
        <p:nvSpPr>
          <p:cNvPr id="46" name="Oval 45"/>
          <p:cNvSpPr/>
          <p:nvPr/>
        </p:nvSpPr>
        <p:spPr>
          <a:xfrm>
            <a:off x="6419088" y="3867912"/>
            <a:ext cx="82296" cy="82296"/>
          </a:xfrm>
          <a:prstGeom prst="ellipse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1968" y="3803904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Firma electronica de certificados</a:t>
            </a:r>
          </a:p>
        </p:txBody>
      </p:sp>
      <p:sp>
        <p:nvSpPr>
          <p:cNvPr id="48" name="Oval 47"/>
          <p:cNvSpPr/>
          <p:nvPr/>
        </p:nvSpPr>
        <p:spPr>
          <a:xfrm>
            <a:off x="6419088" y="4379976"/>
            <a:ext cx="82296" cy="82296"/>
          </a:xfrm>
          <a:prstGeom prst="ellipse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01968" y="4315968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Login con Google / Microsoft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98280" y="1627632"/>
            <a:ext cx="26334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098280" y="1627632"/>
            <a:ext cx="2633472" cy="475488"/>
          </a:xfrm>
          <a:prstGeom prst="roundRect">
            <a:avLst>
              <a:gd name="adj" fmla="val 6000"/>
            </a:avLst>
          </a:prstGeom>
          <a:solidFill>
            <a:srgbClr val="07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FASE 4  ·  FUTURO</a:t>
            </a:r>
          </a:p>
        </p:txBody>
      </p:sp>
      <p:sp>
        <p:nvSpPr>
          <p:cNvPr id="52" name="Oval 51"/>
          <p:cNvSpPr/>
          <p:nvPr/>
        </p:nvSpPr>
        <p:spPr>
          <a:xfrm>
            <a:off x="9262872" y="2331720"/>
            <a:ext cx="82296" cy="82296"/>
          </a:xfrm>
          <a:prstGeom prst="ellipse">
            <a:avLst/>
          </a:prstGeom>
          <a:solidFill>
            <a:srgbClr val="07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45752" y="2267712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Aplicación movil nativa</a:t>
            </a:r>
          </a:p>
        </p:txBody>
      </p:sp>
      <p:sp>
        <p:nvSpPr>
          <p:cNvPr id="54" name="Oval 53"/>
          <p:cNvSpPr/>
          <p:nvPr/>
        </p:nvSpPr>
        <p:spPr>
          <a:xfrm>
            <a:off x="9262872" y="2843784"/>
            <a:ext cx="82296" cy="82296"/>
          </a:xfrm>
          <a:prstGeom prst="ellipse">
            <a:avLst/>
          </a:prstGeom>
          <a:solidFill>
            <a:srgbClr val="07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45752" y="2779776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Marketplace de instructores externos</a:t>
            </a:r>
          </a:p>
        </p:txBody>
      </p:sp>
      <p:sp>
        <p:nvSpPr>
          <p:cNvPr id="56" name="Oval 55"/>
          <p:cNvSpPr/>
          <p:nvPr/>
        </p:nvSpPr>
        <p:spPr>
          <a:xfrm>
            <a:off x="9262872" y="3355848"/>
            <a:ext cx="82296" cy="82296"/>
          </a:xfrm>
          <a:prstGeom prst="ellipse">
            <a:avLst/>
          </a:prstGeom>
          <a:solidFill>
            <a:srgbClr val="07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45752" y="3291840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Integracion con HRIS empresariales</a:t>
            </a:r>
          </a:p>
        </p:txBody>
      </p:sp>
      <p:sp>
        <p:nvSpPr>
          <p:cNvPr id="58" name="Oval 57"/>
          <p:cNvSpPr/>
          <p:nvPr/>
        </p:nvSpPr>
        <p:spPr>
          <a:xfrm>
            <a:off x="9262872" y="3867912"/>
            <a:ext cx="82296" cy="82296"/>
          </a:xfrm>
          <a:prstGeom prst="ellipse">
            <a:avLst/>
          </a:prstGeom>
          <a:solidFill>
            <a:srgbClr val="07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45752" y="3803904"/>
            <a:ext cx="2148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4455"/>
                </a:solidFill>
                <a:latin typeface="Segoe UI"/>
              </a:rPr>
              <a:t>API pública para clientes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8FBF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527" y="777240"/>
            <a:ext cx="2834640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886200"/>
            <a:ext cx="94484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KG ACADEMY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1500" b="0">
                <a:solidFill>
                  <a:srgbClr val="8FBF16"/>
                </a:solidFill>
                <a:latin typeface="Segoe UI"/>
              </a:rPr>
              <a:t>Formación que protege vidas, con la evidencia que su empresa necesita.</a:t>
            </a:r>
          </a:p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C5D5E5"/>
                </a:solidFill>
                <a:latin typeface="Segoe UI"/>
              </a:rPr>
              <a:t>KG GESTIÓN INTEGRAL S.A.S.  ·  KATERINE GUAÑARITA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1207" y="5623560"/>
            <a:ext cx="5669280" cy="566928"/>
          </a:xfrm>
          <a:prstGeom prst="roundRect">
            <a:avLst>
              <a:gd name="adj" fmla="val 6000"/>
            </a:avLst>
          </a:prstGeom>
          <a:solidFill>
            <a:srgbClr val="1B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2647" y="575157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8FBF16"/>
                </a:solidFill>
                <a:latin typeface="Segoe UI"/>
              </a:rPr>
              <a:t>Diseñado y desarrollado por Diego Alejandro Hernández Blanco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