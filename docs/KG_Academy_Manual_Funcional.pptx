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19695" y="0"/>
            <a:ext cx="4572000" cy="6858000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4056" y="1417320"/>
            <a:ext cx="402336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32588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8FBF16"/>
                </a:solidFill>
                <a:latin typeface="Segoe UI"/>
              </a:rPr>
              <a:t>MANUAL FUNCIONAL  ·  VERSIÓN 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67665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Segoe UI"/>
              </a:rPr>
              <a:t>KG ACADEMY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8FBF16"/>
                </a:solidFill>
                <a:latin typeface="Segoe UI"/>
              </a:rPr>
              <a:t>Cómo funciona la plataforma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703320"/>
            <a:ext cx="1371600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023360"/>
            <a:ext cx="6400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C5D5E5"/>
                </a:solidFill>
                <a:latin typeface="Segoe UI"/>
              </a:rPr>
              <a:t>Recorrido módulo por módulo: roles y permisos, aula virtual, motor de progreso, calificación de evaluaciones, emisión de certificados, panel empresarial, gamificación, notificaciones y auditoría.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394960"/>
            <a:ext cx="6766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KG GESTIÓN INTEGRAL S.A.S.  ·  KATERINE GUAÑARITA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8FBF16"/>
                </a:solidFill>
                <a:latin typeface="Segoe UI"/>
              </a:rPr>
              <a:t>Realizado por Diego Alejandro Hernández Blanco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6B7C8C"/>
                </a:solidFill>
                <a:latin typeface="Segoe UI"/>
              </a:rPr>
              <a:t>Bogotá D.C., Colombia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COMO LEER ESTE MANUAL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Guia rápida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Cada módulo se explica en tres capas: que hace, como lo hace el sistema y que debe hacer el usuario.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45920"/>
            <a:ext cx="3520440" cy="457200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6479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QUE HACE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267712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334455"/>
                </a:solidFill>
                <a:latin typeface="Segoe UI"/>
              </a:rPr>
              <a:t>El objetivo del módulo en una frase, en lenguaje de negocio.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64592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61688" y="1645920"/>
            <a:ext cx="3520440" cy="457200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176479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COMO FUNCIONA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2856" y="2267712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334455"/>
                </a:solidFill>
                <a:latin typeface="Segoe UI"/>
              </a:rPr>
              <a:t>La regla exacta que aplica el sistema, con la formula o el flujo cuando aplica.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8" y="164592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6448" y="1645920"/>
            <a:ext cx="3520440" cy="457200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176479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QUIÉN LO USA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267712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334455"/>
                </a:solidFill>
                <a:latin typeface="Segoe UI"/>
              </a:rPr>
              <a:t>El rol responsable y la pantalla concreta donde se opera.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42900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29000"/>
            <a:ext cx="82296" cy="105156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547872"/>
            <a:ext cx="5029200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A2D4D"/>
                </a:solidFill>
                <a:latin typeface="Segoe UI"/>
              </a:rPr>
              <a:t>12 módulos funcionales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C8C"/>
                </a:solidFill>
                <a:latin typeface="Segoe UI"/>
              </a:rPr>
              <a:t>Desde el acceso hasta la auditoría.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27648" y="342900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27648" y="3429000"/>
            <a:ext cx="82296" cy="1051560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3547872"/>
            <a:ext cx="5029200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A2D4D"/>
                </a:solidFill>
                <a:latin typeface="Segoe UI"/>
              </a:rPr>
              <a:t>6 roles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C8C"/>
                </a:solidFill>
                <a:latin typeface="Segoe UI"/>
              </a:rPr>
              <a:t>Con permisos distintos y pantallas distintas.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66344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4663440"/>
            <a:ext cx="82296" cy="105156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782312"/>
            <a:ext cx="5029200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A2D4D"/>
                </a:solidFill>
                <a:latin typeface="Segoe UI"/>
              </a:rPr>
              <a:t>2 sistemas de puntaje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C8C"/>
                </a:solidFill>
                <a:latin typeface="Segoe UI"/>
              </a:rPr>
              <a:t>La NOTA de las evaluaciones y los PUNTOS de gamificación. No son lo mismo.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27648" y="466344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7648" y="4663440"/>
            <a:ext cx="82296" cy="1051560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65392" y="4782312"/>
            <a:ext cx="5029200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A2D4D"/>
                </a:solidFill>
                <a:latin typeface="Segoe UI"/>
              </a:rPr>
              <a:t>1 regla de aprobación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C8C"/>
                </a:solidFill>
                <a:latin typeface="Segoe UI"/>
              </a:rPr>
              <a:t>Lecciones obligatorias completas + evaluación final aprobada.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989320"/>
            <a:ext cx="11064240" cy="502920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6099048"/>
            <a:ext cx="1060704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Advertencia importante: en este manual, NOTA (0 a 100) decide si aprueba. PUNTOS (gamificación) solo motivan; nunca afectan la aprobación ni el certificado.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MAPA GENERAL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Los 12 módulos de la plataforma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Agrupados por el rol que los usa principalmente.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27632"/>
            <a:ext cx="5486400" cy="457200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EL ESTUDIANTE / TRABAJADOR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212848"/>
            <a:ext cx="5486400" cy="62179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30428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01  Acceso y cuenta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9" b="0">
                <a:solidFill>
                  <a:srgbClr val="6B7C8C"/>
                </a:solidFill>
                <a:latin typeface="Segoe UI"/>
              </a:rPr>
              <a:t>Registro, ingreso, sesión y recuperación de contraseña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98648"/>
            <a:ext cx="5486400" cy="62179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99008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02  Catálogo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9" b="0">
                <a:solidFill>
                  <a:srgbClr val="6B7C8C"/>
                </a:solidFill>
                <a:latin typeface="Segoe UI"/>
              </a:rPr>
              <a:t>Explorar cursos y ver la ficha completa antes de inscribirse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84448"/>
            <a:ext cx="5486400" cy="62179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675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03  Aula virtual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9" b="0">
                <a:solidFill>
                  <a:srgbClr val="6B7C8C"/>
                </a:solidFill>
                <a:latin typeface="Segoe UI"/>
              </a:rPr>
              <a:t>Estudiar lección a lección con el avance guardado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70248"/>
            <a:ext cx="5486400" cy="62179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36168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04  Evaluaciones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9" b="0">
                <a:solidFill>
                  <a:srgbClr val="6B7C8C"/>
                </a:solidFill>
                <a:latin typeface="Segoe UI"/>
              </a:rPr>
              <a:t>Diagnóstica, por módulo y final, con calificación inmediata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956048"/>
            <a:ext cx="5486400" cy="62179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504748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05  Certificados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9" b="0">
                <a:solidFill>
                  <a:srgbClr val="6B7C8C"/>
                </a:solidFill>
                <a:latin typeface="Segoe UI"/>
              </a:rPr>
              <a:t>Descarga en PDF y verificación pública con QR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641848"/>
            <a:ext cx="5486400" cy="62179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73328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06  Gamificación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9" b="0">
                <a:solidFill>
                  <a:srgbClr val="6B7C8C"/>
                </a:solidFill>
                <a:latin typeface="Segoe UI"/>
              </a:rPr>
              <a:t>Puntos, niveles, insignias y racha de estudio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1627632"/>
            <a:ext cx="5486400" cy="457200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LA EMPRESA Y KG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27648" y="2212848"/>
            <a:ext cx="5486400" cy="62179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230428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07  Trabajadores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9" b="0">
                <a:solidFill>
                  <a:srgbClr val="6B7C8C"/>
                </a:solidFill>
                <a:latin typeface="Segoe UI"/>
              </a:rPr>
              <a:t>Nomina por área, cargo y sede; alta individual o masiva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27648" y="2898648"/>
            <a:ext cx="5486400" cy="62179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299008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08  Asignación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9" b="0">
                <a:solidFill>
                  <a:srgbClr val="6B7C8C"/>
                </a:solidFill>
                <a:latin typeface="Segoe UI"/>
              </a:rPr>
              <a:t>Entregar cursos con fecha límite y carácter obligatorio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27648" y="3584448"/>
            <a:ext cx="5486400" cy="62179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28816" y="3675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09  Seguimiento y reportes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9" b="0">
                <a:solidFill>
                  <a:srgbClr val="6B7C8C"/>
                </a:solidFill>
                <a:latin typeface="Segoe UI"/>
              </a:rPr>
              <a:t>Estado de cada persona y exportación a CSV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27648" y="4270248"/>
            <a:ext cx="5486400" cy="62179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36168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10  Administración KG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9" b="0">
                <a:solidFill>
                  <a:srgbClr val="6B7C8C"/>
                </a:solidFill>
                <a:latin typeface="Segoe UI"/>
              </a:rPr>
              <a:t>Cursos, contenidos, usuarios, empresas y planes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27648" y="4956048"/>
            <a:ext cx="5486400" cy="62179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28816" y="504748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11  Notificaciones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9" b="0">
                <a:solidFill>
                  <a:srgbClr val="6B7C8C"/>
                </a:solidFill>
                <a:latin typeface="Segoe UI"/>
              </a:rPr>
              <a:t>Avisos automáticos al trabajador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27648" y="5641848"/>
            <a:ext cx="5486400" cy="621792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573328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12  Auditoría y seguridad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9" b="0">
                <a:solidFill>
                  <a:srgbClr val="6B7C8C"/>
                </a:solidFill>
                <a:latin typeface="Segoe UI"/>
              </a:rPr>
              <a:t>Quién hizo que, cuando y sobre que registro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ROLES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Los 6 roles y que puede hacer cada uno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El rol se asigna al crear la cuenta y determina a que panel entra el usuario al iniciar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64239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7300"/>
                <a:gridCol w="1106424"/>
                <a:gridCol w="4766134"/>
                <a:gridCol w="1446862"/>
                <a:gridCol w="1957519"/>
              </a:tblGrid>
              <a:tr h="32918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Rol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Alcance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Qué puede hacer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Entra a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Quién lo usa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SuperAdmin KG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Plataforma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Acceso total sin restriccion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/admin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Katerine / direccion de KG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Administrador KG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Plataforma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Opera cursos, usuarios, empresas, certificados y reportes; no toca configuración sensible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/admin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Equipo operativo de KG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Instructor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Plataforma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Crea y edita SUS cursos, contenidos y evaluaciones; consulta resultados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/admin/cursos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Docente o experto tematico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Administrador de empresa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Su empresa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Gestiona trabajadores, asigna cursos, consulta cumplimiento y descarga reportes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/empresa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Talento humano del cliente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Supervisor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Su empresa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Solo consulta: ve trabajadores, avance e indicadores. No asigna ni edita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/empresa/seguimiento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Jefe de área o HSE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Estudiante / Trabajador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Propio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Estudia, presenta evaluaciones y descarga sus certificados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/aula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Persona que se capacita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5806440"/>
            <a:ext cx="11064240" cy="548640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5916168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Regla de aislamiento: un administrador de empresa NUNCA ve datos de otra empresa. El sistema lo válida en el servidor en cada consulta, no solo escondiendo botones en pantalla.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ROLES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Como se controla el permiso en la práctica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Tres barreras independientes. Si una falla, las otras siguen protegiendo la información.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6949440" cy="86868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1792224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792224"/>
            <a:ext cx="5989320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Barrera de navegacion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El menu lateral solo muestra las secciones del rol. Un supervisor ni siquiera ve el boton 'Asignar cursos'.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79192"/>
            <a:ext cx="6949440" cy="86868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13232" y="2779776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779776"/>
            <a:ext cx="5989320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Barrera de página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Al abrir una direccion, el servidor comprueba el rol antes de responder. Si no corresponde, redirige al panel del usuario.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66744"/>
            <a:ext cx="6949440" cy="86868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3767328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767328"/>
            <a:ext cx="5989320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Barrera de dato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Cada consulta filtra por la empresa del usuario. Aunque alguien adivine el identificador de otro trabajador, no obtiene la información.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691640"/>
            <a:ext cx="3858768" cy="2834640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1874519"/>
            <a:ext cx="338328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>
                  <a:srgbClr val="8FBF16"/>
                </a:solidFill>
                <a:latin typeface="Segoe UI"/>
              </a:rPr>
              <a:t>EN NÚMEROS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6 roles definidos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72 permisos granulares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9 módulos protegidos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Los permisos se nombran módulo.acción, por ejemplo cursos.publicar o certificados.revocar.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846320"/>
            <a:ext cx="11064240" cy="457200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4956048"/>
            <a:ext cx="10607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La matriz completa rol por permiso se consulta en la plataforma: Administración  →  Matriz de permisos.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Estados posibles de una cuenta: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334455"/>
                </a:solidFill>
                <a:latin typeface="Segoe UI"/>
              </a:rPr>
              <a:t>activo  ·  puede entrar y estudiar          pendiente_activacion  ·  creado por la empresa, aún no ha entrado          inactivo  ·  se conserva el histórico pero no puede entrar          bloqueado  ·  acceso denegado por decision administrativa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MÓDULO 01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Acceso y cuenta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Como entra una persona a KG Academy y como se protege su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45920"/>
            <a:ext cx="3520440" cy="438912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556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Registro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24028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334455"/>
                </a:solidFill>
                <a:latin typeface="Segoe UI"/>
              </a:rPr>
              <a:t>La persona se registra en /registro. Si escribe el NIT de una empresa ya creada, queda vinculada automaticamente a ella.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64592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61688" y="1645920"/>
            <a:ext cx="3520440" cy="438912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17556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Alta por la empresa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2856" y="224028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334455"/>
                </a:solidFill>
                <a:latin typeface="Segoe UI"/>
              </a:rPr>
              <a:t>Talento humano crea al trabajador desde el panel. Nace con contraseña temporal KgAcademy2026* y estado 'pendiente de activación'.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8" y="164592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6448" y="1645920"/>
            <a:ext cx="3520440" cy="438912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17556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Alta por KG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24028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334455"/>
                </a:solidFill>
                <a:latin typeface="Segoe UI"/>
              </a:rPr>
              <a:t>La administración crea cuentas de staff, instructores o administradores de empresa.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4290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QUE PASA CUANDO ALGUIEN INICIA SESIÓN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794760"/>
            <a:ext cx="11064240" cy="4572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" y="3895344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3895344"/>
            <a:ext cx="1010412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Se válida la contraseña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Se compara contra el hash bcrypt guardado. La contraseña real nunca se almacena.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15968"/>
            <a:ext cx="11064240" cy="4572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16552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416552"/>
            <a:ext cx="1010412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Se verifica el estado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Una cuenta bloqueada o inactiva no puede entrar, aunque la contraseña sea correcta.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837176"/>
            <a:ext cx="11064240" cy="4572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3232" y="4937760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4937760"/>
            <a:ext cx="1010412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Se crea la sesión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Se firma un token JWT válido por 8 horas y se guarda en una cookie que el navegador no puede leer por script.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358384"/>
            <a:ext cx="11064240" cy="4572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3232" y="5458968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5458968"/>
            <a:ext cx="1010412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Se registra el acceso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Se actualiza la fecha de último ingreso, se suma al contador y queda un renglon en auditoría.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879592"/>
            <a:ext cx="11064240" cy="4572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13232" y="5980176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5980176"/>
            <a:ext cx="1010412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Se redirige según el rol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Estudiante al aula, empresa a su panel, KG a la administración.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MÓDULOS 02 Y 03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Catálogo y estructura de un curso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Como esta organizado el contenido academico dentro de la plataforma.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276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JERARQUIA DEL CONTENIDO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486400" cy="548640"/>
          </a:xfrm>
          <a:prstGeom prst="roundRect">
            <a:avLst>
              <a:gd name="adj" fmla="val 6000"/>
            </a:avLst>
          </a:prstGeom>
          <a:solidFill>
            <a:srgbClr val="07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48255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CATEGORÍA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FFFFFF"/>
                </a:solidFill>
                <a:latin typeface="Segoe UI"/>
              </a:rPr>
              <a:t>Primeros Auxilios, SST, Riesgo Psicosocial, Analytics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1344" y="2587752"/>
            <a:ext cx="5351983" cy="548640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4224" y="2670048"/>
            <a:ext cx="489478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CURSO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FFFFFF"/>
                </a:solidFill>
                <a:latin typeface="Segoe UI"/>
              </a:rPr>
              <a:t>Ficha, reglas de aprobación y certificado. Ej: KG-PA-001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5761" y="3209544"/>
            <a:ext cx="5217566" cy="548640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8641" y="3291840"/>
            <a:ext cx="476036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MÓDULO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FFFFFF"/>
                </a:solidFill>
                <a:latin typeface="Segoe UI"/>
              </a:rPr>
              <a:t>Bloque tematico con un peso dentro del curso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0178" y="3831336"/>
            <a:ext cx="5083149" cy="548640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3058" y="3913632"/>
            <a:ext cx="462594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LECCIÓN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0A2D4D"/>
                </a:solidFill>
                <a:latin typeface="Segoe UI"/>
              </a:rPr>
              <a:t>Unidad mínima. Aquí vive el contenido y aquí se mide el avance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04595" y="4453128"/>
            <a:ext cx="4948732" cy="548640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7475" y="4535424"/>
            <a:ext cx="44915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RECURSO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0A2D4D"/>
                </a:solidFill>
                <a:latin typeface="Segoe UI"/>
              </a:rPr>
              <a:t>Anexos descargables de la lección (PDF, plantillas, normas)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62763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TIPOS DE CONTENIDO QUE ACEPTA UNA LECCIÓN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965960"/>
            <a:ext cx="5230368" cy="47548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01968" y="2048255"/>
            <a:ext cx="48463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pendiente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2075688"/>
            <a:ext cx="3657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6B7C8C"/>
                </a:solidFill>
                <a:latin typeface="Segoe UI"/>
              </a:rPr>
              <a:t>Sin material aún. Muestra el espacio reservado de KG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505456"/>
            <a:ext cx="5230368" cy="47548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01968" y="2587751"/>
            <a:ext cx="48463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video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615184"/>
            <a:ext cx="3657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6B7C8C"/>
                </a:solidFill>
                <a:latin typeface="Segoe UI"/>
              </a:rPr>
              <a:t>Se embebe el reproductor (Vimeo, YouTube, etc.)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3044951"/>
            <a:ext cx="5230368" cy="47548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01968" y="3127247"/>
            <a:ext cx="48463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genially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154679"/>
            <a:ext cx="3657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6B7C8C"/>
                </a:solidFill>
                <a:latin typeface="Segoe UI"/>
              </a:rPr>
              <a:t>Recurso interactivo embebido a pantalla completa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584447"/>
            <a:ext cx="5230368" cy="47548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01968" y="3666744"/>
            <a:ext cx="48463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pdf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3694175"/>
            <a:ext cx="3657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6B7C8C"/>
                </a:solidFill>
                <a:latin typeface="Segoe UI"/>
              </a:rPr>
              <a:t>Documento visible dentro del aula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4123944"/>
            <a:ext cx="5230368" cy="47548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01968" y="4206240"/>
            <a:ext cx="48463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texto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4233672"/>
            <a:ext cx="3657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6B7C8C"/>
                </a:solidFill>
                <a:latin typeface="Segoe UI"/>
              </a:rPr>
              <a:t>Contenido escrito directamente en la plataforma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4663440"/>
            <a:ext cx="5230368" cy="47548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745736"/>
            <a:ext cx="48463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enlace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4773168"/>
            <a:ext cx="3657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6B7C8C"/>
                </a:solidFill>
                <a:latin typeface="Segoe UI"/>
              </a:rPr>
              <a:t>Recurso externo que se abre en otra pestana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5202936"/>
            <a:ext cx="5230368" cy="47548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01968" y="5285231"/>
            <a:ext cx="48463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scorm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5312664"/>
            <a:ext cx="3657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6B7C8C"/>
                </a:solidFill>
                <a:latin typeface="Segoe UI"/>
              </a:rPr>
              <a:t>Paquete de e-learning estándar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5760720"/>
            <a:ext cx="11064240" cy="502920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870448"/>
            <a:ext cx="1060704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Estados de un curso:  borrador  →  revisión  →  publicado  →  despublicado  →  archivado. Solo un curso publicado aparece en el catálogo público.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MÓDULO 03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Como carga KG el contenido de una lección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Procedimiento operativo. No requiere programador ni tocar el código.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64208"/>
            <a:ext cx="7223760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1764792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764792"/>
            <a:ext cx="62636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Entrar como SuperAdmin o Instructor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Menu lateral  →  Cursos.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395728"/>
            <a:ext cx="7223760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13232" y="2496312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496312"/>
            <a:ext cx="62636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Abrir el Constructor del curso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Boton verde 'Constructor' en la tarjeta del curso.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27248"/>
            <a:ext cx="7223760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3227832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227832"/>
            <a:ext cx="62636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Elegir el tipo de contenido de la lección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Lista desplegable: video, genially, pdf, texto, enlace o scorm.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58768"/>
            <a:ext cx="7223760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3232" y="3959352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959352"/>
            <a:ext cx="62636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Pegar la URL del recurso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La direccion del video, del Genially o del documento. El material vive en el proveedor; la plataforma solo lo referencia.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0288"/>
            <a:ext cx="7223760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3232" y="4690872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90872"/>
            <a:ext cx="62636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Guardar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La lección pasa de 'contenido pendiente' a 'contenido cargado' y se pública automaticamente.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21807"/>
            <a:ext cx="7223760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3232" y="5422391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5422391"/>
            <a:ext cx="62636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Publicar el curso cuando este completo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Panel derecho del constructor: borrador, revisión, publicado o despublicado.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1664208"/>
            <a:ext cx="3584448" cy="3108960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1847088"/>
            <a:ext cx="3108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8FBF16"/>
                </a:solidFill>
                <a:latin typeface="Segoe UI"/>
              </a:rPr>
              <a:t>QUEDA REGISTRADO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950" b="0">
                <a:solidFill>
                  <a:srgbClr val="FFFFFF"/>
                </a:solidFill>
                <a:latin typeface="Segoe UI"/>
              </a:rPr>
              <a:t>Cada cambio de contenido se guarda en auditoría con: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·  Quién lo hizo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·  Fecha y hora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·  Que tenia antes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·  Que quedo después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937760"/>
            <a:ext cx="3584448" cy="731520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5047488"/>
            <a:ext cx="312724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El indicador 'contenido cargado' del panel muestra cuantas lecciones ya tienen material.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6035040"/>
            <a:ext cx="7223760" cy="457200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6144768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Mientras una lección este en 'pendiente', el estudiante ve un espacio reservado con la marca KG, no un error.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MÓDULO 04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El aula virtual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Lo que ve y hace el trabajador cuando entra a estudiar.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82296" cy="96012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64792"/>
            <a:ext cx="50292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Indice permanente a la izquierda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Módulos, lecciones, evaluaciones y certificado. Marca en verde lo ya completado.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7648" y="164592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27648" y="1645920"/>
            <a:ext cx="82296" cy="960120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1764792"/>
            <a:ext cx="50292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Continuar donde quedó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El sistema abre por defecto la primera lección pendiente; no hay que buscarla.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74320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2743200"/>
            <a:ext cx="82296" cy="96012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862072"/>
            <a:ext cx="50292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Cronometro de permanencia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Mide el tiempo real dedicado a cada lección y lo acumula en el histórico.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274320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2743200"/>
            <a:ext cx="82296" cy="960120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2862072"/>
            <a:ext cx="50292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Marcar como completada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Boton explicito. Al pulsarlo avanza el porcentaje y salta a la lección siguiente.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84048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840480"/>
            <a:ext cx="82296" cy="96012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959352"/>
            <a:ext cx="50292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Evaluación final bloqueada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Aparece con candado hasta terminar todas las lecciones obligatorias.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27648" y="384048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27648" y="3840480"/>
            <a:ext cx="82296" cy="960120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3959352"/>
            <a:ext cx="50292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Certificado en el mismo indice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Cuando se cumple la regla, el boton se activa solo.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0292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LO QUE EL SISTEMA GUARDA DE CADA LECCIÓN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376672"/>
            <a:ext cx="1764792" cy="73152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5477256"/>
            <a:ext cx="1508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Estado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6B7C8C"/>
                </a:solidFill>
                <a:latin typeface="Segoe UI"/>
              </a:rPr>
              <a:t>no iniciado / en progreso / completado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23160" y="5376672"/>
            <a:ext cx="1764792" cy="73152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0" y="5477256"/>
            <a:ext cx="1508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Porcentaje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6B7C8C"/>
                </a:solidFill>
                <a:latin typeface="Segoe UI"/>
              </a:rPr>
              <a:t>avance dentro de la lección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79392" y="5376672"/>
            <a:ext cx="1764792" cy="73152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16552" y="5477256"/>
            <a:ext cx="1508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Tiempo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6B7C8C"/>
                </a:solidFill>
                <a:latin typeface="Segoe UI"/>
              </a:rPr>
              <a:t>segundos acumulados de permanencia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35624" y="5376672"/>
            <a:ext cx="1764792" cy="73152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2784" y="5477256"/>
            <a:ext cx="1508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Posicion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6B7C8C"/>
                </a:solidFill>
                <a:latin typeface="Segoe UI"/>
              </a:rPr>
              <a:t>segundo exacto del video para retomar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91855" y="5376672"/>
            <a:ext cx="1764792" cy="73152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29015" y="5477256"/>
            <a:ext cx="1508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Vistas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6B7C8C"/>
                </a:solidFill>
                <a:latin typeface="Segoe UI"/>
              </a:rPr>
              <a:t>cuantas veces la abrio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48087" y="5376672"/>
            <a:ext cx="1764792" cy="73152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85247" y="5477256"/>
            <a:ext cx="1508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Fechas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>
                <a:solidFill>
                  <a:srgbClr val="6B7C8C"/>
                </a:solidFill>
                <a:latin typeface="Segoe UI"/>
              </a:rPr>
              <a:t>inicio y finalización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MOTOR DE PROGRESO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Como se calcula el porcentaje de avance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Esta es la regla más importante de la plataforma y es configurable curso por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002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LAS TRES FORMAS DE CALCULARLO  ·  campo courses.progressRule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38528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938528"/>
            <a:ext cx="82296" cy="9144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066544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obligatorios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B47A0C"/>
                </a:solidFill>
                <a:latin typeface="Segoe UI"/>
              </a:rPr>
              <a:t>POR DEFECTO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66544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50" b="1">
                <a:solidFill>
                  <a:srgbClr val="334455"/>
                </a:solidFill>
                <a:latin typeface="Segoe UI"/>
              </a:rPr>
              <a:t>% = lecciones obligatorias completadas / total de lecciones obligatorias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Todas las lecciones pesan igual. Es la más fácil de explicar al auditor.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944368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944368"/>
            <a:ext cx="82296" cy="914400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072384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peso_lecciones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B4A73"/>
                </a:solidFill>
                <a:latin typeface="Segoe UI"/>
              </a:rPr>
              <a:t>AVANZADA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072384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50" b="1">
                <a:solidFill>
                  <a:srgbClr val="334455"/>
                </a:solidFill>
                <a:latin typeface="Segoe UI"/>
              </a:rPr>
              <a:t>% = suma del peso de las lecciones completadas / suma total de pesos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Permite que una lección larga valga más que una corta.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950208"/>
            <a:ext cx="82296" cy="914400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78224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peso_modulos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0A2D4D"/>
                </a:solidFill>
                <a:latin typeface="Segoe UI"/>
              </a:rPr>
              <a:t>AVANZADA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078224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50" b="1">
                <a:solidFill>
                  <a:srgbClr val="334455"/>
                </a:solidFill>
                <a:latin typeface="Segoe UI"/>
              </a:rPr>
              <a:t>% = suma ponderada del avance de cada módulo según su peso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Útil cuando un módulo completo debe pesar más que otro.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2920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1663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8FBF16"/>
                </a:solidFill>
                <a:latin typeface="Segoe UI"/>
              </a:rPr>
              <a:t>EJEMPLO REAL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Curso Básico de Primeros Auxilios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7 lecciones obligatorias  ·  40 horas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0" y="5193792"/>
            <a:ext cx="2377440" cy="896112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2" y="5285232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Segoe UI"/>
              </a:rPr>
              <a:t>Completa 2 lecciones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50" b="0">
                <a:solidFill>
                  <a:srgbClr val="8FBF16"/>
                </a:solidFill>
                <a:latin typeface="Segoe UI"/>
              </a:rPr>
              <a:t>2 / 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8FBF16"/>
                </a:solidFill>
                <a:latin typeface="Segoe UI"/>
              </a:rPr>
              <a:t>28,6 %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29400" y="5193792"/>
            <a:ext cx="2377440" cy="896112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3992" y="5285232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Segoe UI"/>
              </a:rPr>
              <a:t>Completa 5 lecciones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50" b="0">
                <a:solidFill>
                  <a:srgbClr val="8FBF16"/>
                </a:solidFill>
                <a:latin typeface="Segoe UI"/>
              </a:rPr>
              <a:t>5 / 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8FBF16"/>
                </a:solidFill>
                <a:latin typeface="Segoe UI"/>
              </a:rPr>
              <a:t>71,4 %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0" y="5193792"/>
            <a:ext cx="2377440" cy="896112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8592" y="5285232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Segoe UI"/>
              </a:rPr>
              <a:t>Completa 7 lecciones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50" b="0">
                <a:solidFill>
                  <a:srgbClr val="8FBF16"/>
                </a:solidFill>
                <a:latin typeface="Segoe UI"/>
              </a:rPr>
              <a:t>7 / 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8FBF16"/>
                </a:solidFill>
                <a:latin typeface="Segoe UI"/>
              </a:rPr>
              <a:t>100 %  pero aún NO aprobado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6355080"/>
            <a:ext cx="11064240" cy="384048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6464808"/>
            <a:ext cx="106070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Llegar al 100 % de lecciones NO aprueba el curso por si solo: falta la evaluación final. Ver la lamina siguiente.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MOTOR DE PROGRESO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Cuando se considera un curso APROBADO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El sistema evalúa dos condiciones. Las dos deben cumplirse.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169164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80160" y="1691640"/>
            <a:ext cx="4206240" cy="411480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81328" y="178308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CONDICION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2240280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Lecciones obligatorias al 100 %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Si el curso tiene requiresAllLessons activo (así están los tres cursos de KG).</a:t>
            </a:r>
          </a:p>
        </p:txBody>
      </p:sp>
      <p:sp>
        <p:nvSpPr>
          <p:cNvPr id="12" name="Oval 11"/>
          <p:cNvSpPr/>
          <p:nvPr/>
        </p:nvSpPr>
        <p:spPr>
          <a:xfrm>
            <a:off x="5715000" y="2084831"/>
            <a:ext cx="685800" cy="59436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0A2D4D"/>
                </a:solidFill>
                <a:latin typeface="Segoe UI"/>
              </a:rPr>
              <a:t>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69164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75120" y="1691640"/>
            <a:ext cx="4206240" cy="411480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76288" y="178308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CONDICION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6288" y="2240280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Evaluación final aprobada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Nota igual o superior al mínimo del curso (80 sobre 100 por defecto).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3291840"/>
            <a:ext cx="3749039" cy="502920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CURSO COMPLETADO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02336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Y ENTONCES EL SISTEMA HACE ESTO, SOLO, EN EL MISMO INSTANTE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70832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4088" y="4480560"/>
            <a:ext cx="310896" cy="3108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A2D4D"/>
                </a:solidFill>
                <a:latin typeface="Segoe U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864608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Emite el certificado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80" b="0">
                <a:solidFill>
                  <a:srgbClr val="6B7C8C"/>
                </a:solidFill>
                <a:latin typeface="Segoe UI"/>
              </a:rPr>
              <a:t>Con código único, QR y los datos congelados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07208" y="4370832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944368" y="4480560"/>
            <a:ext cx="310896" cy="3108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A2D4D"/>
                </a:solidFill>
                <a:latin typeface="Segoe U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44368" y="4864608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Suma 100 puntos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80" b="0">
                <a:solidFill>
                  <a:srgbClr val="6B7C8C"/>
                </a:solidFill>
                <a:latin typeface="Segoe UI"/>
              </a:rPr>
              <a:t>Al marcador de gamificación del trabajador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47488" y="4370832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184648" y="4480560"/>
            <a:ext cx="310896" cy="3108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A2D4D"/>
                </a:solidFill>
                <a:latin typeface="Segoe U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4648" y="4864608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Notifica al trabajador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80" b="0">
                <a:solidFill>
                  <a:srgbClr val="6B7C8C"/>
                </a:solidFill>
                <a:latin typeface="Segoe UI"/>
              </a:rPr>
              <a:t>Aviso interno con el enlace de descarga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87768" y="4370832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24928" y="4480560"/>
            <a:ext cx="310896" cy="3108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A2D4D"/>
                </a:solidFill>
                <a:latin typeface="Segoe U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4928" y="4864608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Cierra la asignación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80" b="0">
                <a:solidFill>
                  <a:srgbClr val="6B7C8C"/>
                </a:solidFill>
                <a:latin typeface="Segoe UI"/>
              </a:rPr>
              <a:t>La empresa ve el estado en 'completado'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28048" y="4370832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665208" y="4480560"/>
            <a:ext cx="310896" cy="3108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A2D4D"/>
                </a:solidFill>
                <a:latin typeface="Segoe U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5208" y="4864608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Actualiza los indicadores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80" b="0">
                <a:solidFill>
                  <a:srgbClr val="6B7C8C"/>
                </a:solidFill>
                <a:latin typeface="Segoe UI"/>
              </a:rPr>
              <a:t>Cumplimiento por área, cargo y sede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8" y="5641848"/>
            <a:ext cx="10607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Si el curso se configura con requiresFinalExam desactivado, basta la condicion 1. Si se configura con requiresAllLessons desactivado, basta con haber iniciado y aprobar la final. Ambos interruptores son por curso.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236208"/>
            <a:ext cx="11064240" cy="38404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8" y="6345936"/>
            <a:ext cx="106070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El histórico nunca se borra: una edición administrativa del curso no elimina el avance ya registrado.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MÓDULO 05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Evaluaciones: tipos y configuración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Cada curso puede tener evaluación diagnóstica, evaluaciones por módulo y evaluación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45920"/>
            <a:ext cx="3520440" cy="457200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556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DIAGNÓSTICA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240280"/>
            <a:ext cx="31089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Antes de empezar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Mide el conocimiento previo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NO afecta la aprobación. Siempre se registra como presentada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6459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61688" y="1645920"/>
            <a:ext cx="3520440" cy="457200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17556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POR MÓDULO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2856" y="2240280"/>
            <a:ext cx="31089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00" b="1">
                <a:solidFill>
                  <a:srgbClr val="8FBF16"/>
                </a:solidFill>
                <a:latin typeface="Segoe UI"/>
              </a:rPr>
              <a:t>Al cerrar un bloque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Refuerza lo aprendido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Configurable como obligatoria u opcional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8" y="16459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6448" y="1645920"/>
            <a:ext cx="3520440" cy="457200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17556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FINAL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240280"/>
            <a:ext cx="31089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00" b="1">
                <a:solidFill>
                  <a:srgbClr val="8FBF16"/>
                </a:solidFill>
                <a:latin typeface="Segoe UI"/>
              </a:rPr>
              <a:t>Al terminar el curso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Decide la aprobación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Debe superarse para obtener el certificado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70332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PARAMETROS QUE SE CONFIGURAN EN CADA EVALUACIÓN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069080"/>
            <a:ext cx="2651760" cy="93268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9664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Nota mínima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1B4A73"/>
                </a:solidFill>
                <a:latin typeface="Segoe UI"/>
              </a:rPr>
              <a:t>80 sobre 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80" b="0">
                <a:solidFill>
                  <a:srgbClr val="6B7C8C"/>
                </a:solidFill>
                <a:latin typeface="Segoe UI"/>
              </a:rPr>
              <a:t>Debajo de ese valor no aprueba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64992" y="4069080"/>
            <a:ext cx="2651760" cy="93268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9584" y="4169664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Intentos máximos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1B4A73"/>
                </a:solidFill>
                <a:latin typeface="Segoe UI"/>
              </a:rPr>
              <a:t>3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80" b="0">
                <a:solidFill>
                  <a:srgbClr val="6B7C8C"/>
                </a:solidFill>
                <a:latin typeface="Segoe UI"/>
              </a:rPr>
              <a:t>Al agotarlos debe intervenir KG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63056" y="4069080"/>
            <a:ext cx="2651760" cy="93268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27648" y="4169664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Tiempo límite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1B4A73"/>
                </a:solidFill>
                <a:latin typeface="Segoe UI"/>
              </a:rPr>
              <a:t>30 minutos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80" b="0">
                <a:solidFill>
                  <a:srgbClr val="6B7C8C"/>
                </a:solidFill>
                <a:latin typeface="Segoe UI"/>
              </a:rPr>
              <a:t>Al llegar a cero se envia automaticamente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19" y="4069080"/>
            <a:ext cx="2651760" cy="93268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25711" y="4169664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Barajar preguntas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1B4A73"/>
                </a:solidFill>
                <a:latin typeface="Segoe UI"/>
              </a:rPr>
              <a:t>Activado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80" b="0">
                <a:solidFill>
                  <a:srgbClr val="6B7C8C"/>
                </a:solidFill>
                <a:latin typeface="Segoe UI"/>
              </a:rPr>
              <a:t>Cada intento presenta otro orden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120640"/>
            <a:ext cx="2651760" cy="93268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221224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Barajar opciones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1B4A73"/>
                </a:solidFill>
                <a:latin typeface="Segoe UI"/>
              </a:rPr>
              <a:t>Activado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80" b="0">
                <a:solidFill>
                  <a:srgbClr val="6B7C8C"/>
                </a:solidFill>
                <a:latin typeface="Segoe UI"/>
              </a:rPr>
              <a:t>Dificulta copiar respuestas entre compañeros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64992" y="5120640"/>
            <a:ext cx="2651760" cy="93268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9584" y="5221224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Mostrar retroalimentacion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1B4A73"/>
                </a:solidFill>
                <a:latin typeface="Segoe UI"/>
              </a:rPr>
              <a:t>Activado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80" b="0">
                <a:solidFill>
                  <a:srgbClr val="6B7C8C"/>
                </a:solidFill>
                <a:latin typeface="Segoe UI"/>
              </a:rPr>
              <a:t>Explica por que la respuesta era correcta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63056" y="5120640"/>
            <a:ext cx="2651760" cy="93268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27648" y="5221224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Mostrar respuesta correcta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1B4A73"/>
                </a:solidFill>
                <a:latin typeface="Segoe UI"/>
              </a:rPr>
              <a:t>Solo en la final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80" b="0">
                <a:solidFill>
                  <a:srgbClr val="6B7C8C"/>
                </a:solidFill>
                <a:latin typeface="Segoe UI"/>
              </a:rPr>
              <a:t>Se decide por evaluación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5120640"/>
            <a:ext cx="2651760" cy="93268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25711" y="5221224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Banco de preguntas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>
                <a:solidFill>
                  <a:srgbClr val="1B4A73"/>
                </a:solidFill>
                <a:latin typeface="Segoe UI"/>
              </a:rPr>
              <a:t>Por curso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80" b="0">
                <a:solidFill>
                  <a:srgbClr val="6B7C8C"/>
                </a:solidFill>
                <a:latin typeface="Segoe UI"/>
              </a:rPr>
              <a:t>Se reutiliza en varias evaluaciones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6236208"/>
            <a:ext cx="11064240" cy="411480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6345936"/>
            <a:ext cx="10607040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El banco cargado hoy es de EJEMPLO (6 preguntas). KG debe reemplazarlo por el banco oficial de cada curso.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MÓDULO 05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Como se calcula la NOTA de una evaluación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Calificación automática en el servidor. El estudiante ve el resultado de inmediato.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27632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556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1">
                <a:solidFill>
                  <a:srgbClr val="8FBF16"/>
                </a:solidFill>
                <a:latin typeface="Segoe UI"/>
              </a:rPr>
              <a:t>FORMULA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NOTA  =  ( puntos obtenidos  /  puntos posibles )  ×  100          APRUEBA si  NOTA  ≥  nota mínima del curso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974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EJEMPLO CON LA EVALUACIÓN FINAL DE KG-PA-001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35808"/>
            <a:ext cx="548640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11810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0A2D4D"/>
                </a:solidFill>
                <a:latin typeface="Segoe UI"/>
              </a:rPr>
              <a:t>Preguntas de la evaluación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108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A2D4D"/>
                </a:solidFill>
                <a:latin typeface="Segoe UI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38144"/>
            <a:ext cx="5486400" cy="36576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2043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0A2D4D"/>
                </a:solidFill>
                <a:latin typeface="Segoe UI"/>
              </a:rPr>
              <a:t>Valor de cada pregunta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5112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A2D4D"/>
                </a:solidFill>
                <a:latin typeface="Segoe UI"/>
              </a:rPr>
              <a:t>1 punto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40480"/>
            <a:ext cx="548640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9227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0A2D4D"/>
                </a:solidFill>
                <a:latin typeface="Segoe UI"/>
              </a:rPr>
              <a:t>Puntos posibles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91363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A2D4D"/>
                </a:solidFill>
                <a:latin typeface="Segoe UI"/>
              </a:rPr>
              <a:t>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42816"/>
            <a:ext cx="5486400" cy="36576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3251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0A2D4D"/>
                </a:solidFill>
                <a:latin typeface="Segoe UI"/>
              </a:rPr>
              <a:t>Respuestas correctas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31596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A2D4D"/>
                </a:solidFill>
                <a:latin typeface="Segoe UI"/>
              </a:rP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45152"/>
            <a:ext cx="548640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72744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0A2D4D"/>
                </a:solidFill>
                <a:latin typeface="Segoe UI"/>
              </a:rPr>
              <a:t>Puntos obtenidos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71830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A2D4D"/>
                </a:solidFill>
                <a:latin typeface="Segoe UI"/>
              </a:rPr>
              <a:t>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47488"/>
            <a:ext cx="5486400" cy="36576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0A2D4D"/>
                </a:solidFill>
                <a:latin typeface="Segoe UI"/>
              </a:rPr>
              <a:t>Nota  =  (5 / 6) × 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5120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A2D4D"/>
                </a:solidFill>
                <a:latin typeface="Segoe UI"/>
              </a:rPr>
              <a:t>83,3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449824"/>
            <a:ext cx="548640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5321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0A2D4D"/>
                </a:solidFill>
                <a:latin typeface="Segoe UI"/>
              </a:rPr>
              <a:t>Nota mínima del curso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52297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A2D4D"/>
                </a:solidFill>
                <a:latin typeface="Segoe UI"/>
              </a:rPr>
              <a:t>80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852160"/>
            <a:ext cx="5486400" cy="365760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93445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Resultado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592531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APROBADO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2697480"/>
            <a:ext cx="5230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REGLAS QUE APLICA EL SISTEMA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3035808"/>
            <a:ext cx="5230368" cy="50292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01968" y="3108960"/>
            <a:ext cx="48463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Pregunta sin responder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Se califica como incorrecta. No penaliza doble.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602736"/>
            <a:ext cx="5230368" cy="50292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01968" y="3675887"/>
            <a:ext cx="48463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Redondeo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La nota se guarda con un decimal (por ejemplo 83,3).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4169663"/>
            <a:ext cx="5230368" cy="50292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01968" y="4242816"/>
            <a:ext cx="48463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Diagnóstica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Se registra la nota pero siempre queda como 'presentada'; no bloquea nada.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0" y="4736592"/>
            <a:ext cx="5230368" cy="50292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01968" y="4809744"/>
            <a:ext cx="48463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Intentos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Se cuentan aunque se abandone. Al llegar al máximo sin aprobar, se bloquea.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0" y="5303520"/>
            <a:ext cx="5230368" cy="50292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01968" y="5376672"/>
            <a:ext cx="48463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Si ya aprobó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No se exige más; puede repasar sin afectar la nota obtenida.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0" y="5870448"/>
            <a:ext cx="5230368" cy="50292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01968" y="5943600"/>
            <a:ext cx="48463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Histórico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Cada intento queda guardado con fecha, duración y respuesta a cada pregunta.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6382512"/>
            <a:ext cx="11064240" cy="384048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5528" y="6492240"/>
            <a:ext cx="106070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Al terminar, el estudiante ve pregunta por pregunta que respondio, si acerto y la explicacion pedagógica.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MÓDULO 06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Certificados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Se emiten solos cuando se cumple la regla de aprobación. Nadie tiene que generarlos a mano.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276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QUE LLEVA IMPRESO EL CERTIFICADO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2651760" cy="49377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29968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Nombre del titular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B7C8C"/>
                </a:solidFill>
                <a:latin typeface="Segoe UI"/>
              </a:rPr>
              <a:t>Congelado en el momento de la emisión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1965960"/>
            <a:ext cx="2651760" cy="49377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1296" y="2029968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Número de documento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B7C8C"/>
                </a:solidFill>
                <a:latin typeface="Segoe UI"/>
              </a:rPr>
              <a:t>Para identificar sin ambiguedad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532888"/>
            <a:ext cx="2651760" cy="49377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596896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Nombre del curso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B7C8C"/>
                </a:solidFill>
                <a:latin typeface="Segoe UI"/>
              </a:rPr>
              <a:t>Tal como estaba al aprobar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4992" y="2532888"/>
            <a:ext cx="2651760" cy="49377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1296" y="2596896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Intensidad horaria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B7C8C"/>
                </a:solidFill>
                <a:latin typeface="Segoe UI"/>
              </a:rPr>
              <a:t>Las horas certificadas del curso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099815"/>
            <a:ext cx="2651760" cy="49377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163823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Calificación final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B7C8C"/>
                </a:solidFill>
                <a:latin typeface="Segoe UI"/>
              </a:rPr>
              <a:t>La nota con la que aprobó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64992" y="3099815"/>
            <a:ext cx="2651760" cy="49377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11296" y="3163823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Fecha de expedición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B7C8C"/>
                </a:solidFill>
                <a:latin typeface="Segoe UI"/>
              </a:rPr>
              <a:t>Día de cumplimiento de la regla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666744"/>
            <a:ext cx="2651760" cy="49377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730752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Vigencia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B7C8C"/>
                </a:solidFill>
                <a:latin typeface="Segoe UI"/>
              </a:rPr>
              <a:t>24 meses en los cursos de KG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64992" y="3666744"/>
            <a:ext cx="2651760" cy="49377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1296" y="3730752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Código único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B7C8C"/>
                </a:solidFill>
                <a:latin typeface="Segoe UI"/>
              </a:rPr>
              <a:t>Formato KG-AAAA-XXXXXX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233672"/>
            <a:ext cx="2651760" cy="49377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297680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Código QR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B7C8C"/>
                </a:solidFill>
                <a:latin typeface="Segoe UI"/>
              </a:rPr>
              <a:t>Lleva a la página pública de verificación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64992" y="4233672"/>
            <a:ext cx="2651760" cy="49377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11296" y="4297680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Firma autorizada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>
                <a:solidFill>
                  <a:srgbClr val="6B7C8C"/>
                </a:solidFill>
                <a:latin typeface="Segoe UI"/>
              </a:rPr>
              <a:t>Katerine Guañarita, Directora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1627632"/>
            <a:ext cx="5230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CICLO DE VIDA DEL CERTIFICADO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1965960"/>
            <a:ext cx="5230368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47104" y="2066544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59752" y="2066544"/>
            <a:ext cx="4270248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Emisión automática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Al cumplirse la regla de aprobación.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2697480"/>
            <a:ext cx="5230368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47104" y="2798064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59752" y="2798064"/>
            <a:ext cx="4270248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Descarga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El titular lo imprime o lo guarda como PDF en A4 horizontal.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3429000"/>
            <a:ext cx="5230368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47104" y="3529584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59752" y="3529584"/>
            <a:ext cx="4270248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Verificación pública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Cualquiera valida el código en /verificar sin iniciar sesión.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4160520"/>
            <a:ext cx="5230368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47104" y="4261104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59752" y="4261104"/>
            <a:ext cx="4270248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Vencimiento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A los 24 meses cambia a 'vencido' automaticamente.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0" y="4892040"/>
            <a:ext cx="5230368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547104" y="4992624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59752" y="4992624"/>
            <a:ext cx="4270248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Revocación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KG puede anularlo dejando el motivo registrado.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5943600"/>
            <a:ext cx="11064240" cy="566928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528" y="6053328"/>
            <a:ext cx="10607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'Datos congelados' significa que si mañana se edita el curso o cambia el nombre del trabajador, el certificado ya emitido conserva la información con la que fue expedido. Es lo que exige una auditoría.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MÓDULOS 07 A 09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El panel empresarial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Lo que usa talento humano del cliente para gestionar y demostrar la capacitación.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48640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82296" cy="132588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64792"/>
            <a:ext cx="5029200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Estructura organizacional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>
                <a:solidFill>
                  <a:srgbClr val="6B7C8C"/>
                </a:solidFill>
                <a:latin typeface="Segoe UI"/>
              </a:rPr>
              <a:t>La empresa se organiza en áreas, cargos y sedes. Cada trabajador se ubica en las tres dimensiones, y eso permite después medir por área, por cargo o por sede.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7648" y="1645920"/>
            <a:ext cx="548640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27648" y="1645920"/>
            <a:ext cx="82296" cy="1325880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1764792"/>
            <a:ext cx="5029200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Alta de trabajadores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>
                <a:solidFill>
                  <a:srgbClr val="6B7C8C"/>
                </a:solidFill>
                <a:latin typeface="Segoe UI"/>
              </a:rPr>
              <a:t>Individual con un formulario, o masiva pegando una fila por persona con el formato nombres;apellidos;documento;correo;código. Los correos repetidos se omiten solos.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27248"/>
            <a:ext cx="548640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127248"/>
            <a:ext cx="82296" cy="1325880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246120"/>
            <a:ext cx="5029200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Asignación de cursos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>
                <a:solidFill>
                  <a:srgbClr val="6B7C8C"/>
                </a:solidFill>
                <a:latin typeface="Segoe UI"/>
              </a:rPr>
              <a:t>Se elige el curso, se filtra por área, se seleccionan las personas, se fija la fecha límite y si es obligatorio. Todo el lote queda agrupado para auditoría.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3127248"/>
            <a:ext cx="548640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3127248"/>
            <a:ext cx="82296" cy="132588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3246120"/>
            <a:ext cx="5029200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Seguimiento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>
                <a:solidFill>
                  <a:srgbClr val="6B7C8C"/>
                </a:solidFill>
                <a:latin typeface="Segoe UI"/>
              </a:rPr>
              <a:t>Tabla filtrable por curso, área y estado. Responde en un clic quién no ha iniciado, quién va en progreso, quién terminó y a quién se le vencio el plazo.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08576"/>
            <a:ext cx="548640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608576"/>
            <a:ext cx="82296" cy="1325880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727448"/>
            <a:ext cx="5029200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Reportes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>
                <a:solidFill>
                  <a:srgbClr val="6B7C8C"/>
                </a:solidFill>
                <a:latin typeface="Segoe UI"/>
              </a:rPr>
              <a:t>Tres exportaciones a CSV listas para Excel: seguimiento, trabajadores y certificados.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27648" y="4608576"/>
            <a:ext cx="548640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27648" y="4608576"/>
            <a:ext cx="82296" cy="1325880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4727448"/>
            <a:ext cx="5029200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Indicadores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>
                <a:solidFill>
                  <a:srgbClr val="6B7C8C"/>
                </a:solidFill>
                <a:latin typeface="Segoe UI"/>
              </a:rPr>
              <a:t>Cumplimiento general, avance promedio, y desglose por sede y por cargo.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6053328"/>
            <a:ext cx="11064240" cy="457200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6163056"/>
            <a:ext cx="10607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Estados de una asignación:  asignado  →  en progreso  →  completado.  Si pasa la fecha límite sin completarse, se muestra como vencido en rojo con los días de atraso.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MÓDULO 09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Los reportes que puede descargar la empresa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Todos en CSV separado por punto y coma, listos para abrir en Excel.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1106424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82296" cy="1298448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73936"/>
            <a:ext cx="2377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2D4D"/>
                </a:solidFill>
                <a:latin typeface="Segoe UI"/>
              </a:rPr>
              <a:t>Seguimiento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B4A73"/>
                </a:solidFill>
                <a:latin typeface="Segoe UI"/>
              </a:rPr>
              <a:t>Una fila por asignación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773936"/>
            <a:ext cx="80467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50" b="1">
                <a:solidFill>
                  <a:srgbClr val="1B4A73"/>
                </a:solidFill>
                <a:latin typeface="Segoe UI"/>
              </a:rPr>
              <a:t>Columnas: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880" b="0">
                <a:solidFill>
                  <a:srgbClr val="334455"/>
                </a:solidFill>
                <a:latin typeface="Segoe UI"/>
              </a:rPr>
              <a:t>Documento · Trabajador · Correo · Área · Cargo · Sede · Curso · Código · Obligatorio · Estado · Avance % · Nota final · Fecha límite · Inicio · Finalización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Es el reporte que pide un auditor o la ARL.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63240"/>
            <a:ext cx="1106424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063240"/>
            <a:ext cx="82296" cy="1298448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191256"/>
            <a:ext cx="2377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2D4D"/>
                </a:solidFill>
                <a:latin typeface="Segoe UI"/>
              </a:rPr>
              <a:t>Trabajadores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B4A73"/>
                </a:solidFill>
                <a:latin typeface="Segoe UI"/>
              </a:rPr>
              <a:t>Una fila por persona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191256"/>
            <a:ext cx="80467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50" b="1">
                <a:solidFill>
                  <a:srgbClr val="1B4A73"/>
                </a:solidFill>
                <a:latin typeface="Segoe UI"/>
              </a:rPr>
              <a:t>Columnas: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880" b="0">
                <a:solidFill>
                  <a:srgbClr val="334455"/>
                </a:solidFill>
                <a:latin typeface="Segoe UI"/>
              </a:rPr>
              <a:t>Código · Nombres · Apellidos · Documento · Correo · Área · Cargo · Sede · Estado · Cursos asignados · Cursos completados · Avance promedio · Certificados · Último acceso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Sirve para conciliar la nomina con la plataforma.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80560"/>
            <a:ext cx="1106424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480560"/>
            <a:ext cx="82296" cy="1298448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608576"/>
            <a:ext cx="2377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2D4D"/>
                </a:solidFill>
                <a:latin typeface="Segoe UI"/>
              </a:rPr>
              <a:t>Certificados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B4A73"/>
                </a:solidFill>
                <a:latin typeface="Segoe UI"/>
              </a:rPr>
              <a:t>Una fila por certificado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608576"/>
            <a:ext cx="80467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850" b="1">
                <a:solidFill>
                  <a:srgbClr val="1B4A73"/>
                </a:solidFill>
                <a:latin typeface="Segoe UI"/>
              </a:rPr>
              <a:t>Columnas: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880" b="0">
                <a:solidFill>
                  <a:srgbClr val="334455"/>
                </a:solidFill>
                <a:latin typeface="Segoe UI"/>
              </a:rPr>
              <a:t>Código · Trabajador · Documento · Curso · Horas · Nota · Emitido · Vence · Estado · URL de verificación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Evidencia formal de la formación impartida.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943600"/>
            <a:ext cx="11064240" cy="4572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6053328"/>
            <a:ext cx="10607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La exportación a PDF con imagen corporativa y el envío programado por correo quedaron previstos para la Fase 2.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MÓDULO 10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Gamificación: cómo funcionan los puntos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Sistema motivacional. Es independiente de la nota y NUNCA afecta la aprobación ni el certificado.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3949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00200"/>
            <a:ext cx="5394960" cy="457200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0078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COMO SE GANAN PUNTOS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12848"/>
            <a:ext cx="4882896" cy="47548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331720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334455"/>
                </a:solidFill>
                <a:latin typeface="Segoe UI"/>
              </a:rPr>
              <a:t>Completar una lección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3042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B4A73"/>
                </a:solidFill>
                <a:latin typeface="Segoe UI"/>
              </a:rPr>
              <a:t>+10 puntos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761488"/>
            <a:ext cx="4882896" cy="47548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880360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334455"/>
                </a:solidFill>
                <a:latin typeface="Segoe UI"/>
              </a:rPr>
              <a:t>Aprobar una evaluación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85292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B4A73"/>
                </a:solidFill>
                <a:latin typeface="Segoe UI"/>
              </a:rPr>
              <a:t>+50 puntos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310128"/>
            <a:ext cx="4882896" cy="47548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429000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334455"/>
                </a:solidFill>
                <a:latin typeface="Segoe UI"/>
              </a:rPr>
              <a:t>Completar un curso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40156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B4A73"/>
                </a:solidFill>
                <a:latin typeface="Segoe UI"/>
              </a:rPr>
              <a:t>+100 puntos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1600200"/>
            <a:ext cx="5394960" cy="2286000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17373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8FBF16"/>
                </a:solidFill>
                <a:latin typeface="Segoe UI"/>
              </a:rPr>
              <a:t>EJEMPLO: UN CURSO COMPLETO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340864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Segoe UI"/>
              </a:rPr>
              <a:t>7 lecciones ×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2313432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8FBF16"/>
                </a:solidFill>
                <a:latin typeface="Segoe UI"/>
              </a:rPr>
              <a:t>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889504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Segoe UI"/>
              </a:rPr>
              <a:t>1 evaluación final aprobada × 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2862072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8FBF16"/>
                </a:solidFill>
                <a:latin typeface="Segoe UI"/>
              </a:rPr>
              <a:t>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438144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Segoe UI"/>
              </a:rPr>
              <a:t>1 curso completado × 100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3410712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8FBF16"/>
                </a:solidFill>
                <a:latin typeface="Segoe UI"/>
              </a:rPr>
              <a:t>100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46520" y="3913631"/>
            <a:ext cx="4974336" cy="457200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3986783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A2D4D"/>
                </a:solidFill>
                <a:latin typeface="Segoe UI"/>
              </a:rPr>
              <a:t>TOTAL DEL CURSO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959352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2D4D"/>
                </a:solidFill>
                <a:latin typeface="Segoe UI"/>
              </a:rPr>
              <a:t>220 puntos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069080"/>
            <a:ext cx="548640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069080"/>
            <a:ext cx="82296" cy="1078992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418795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>
                <a:solidFill>
                  <a:srgbClr val="0A2D4D"/>
                </a:solidFill>
                <a:latin typeface="Segoe UI"/>
              </a:rPr>
              <a:t>Niveles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Cada 250 puntos se sube de nivel.  Nivel = (puntos ÷ 250) + 1.  Con 220 puntos el trabajador esta en nivel 1 y le faltan 30 para el nivel 2.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27648" y="4069080"/>
            <a:ext cx="548640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27648" y="4069080"/>
            <a:ext cx="82296" cy="1078992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65392" y="418795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>
                <a:solidFill>
                  <a:srgbClr val="0A2D4D"/>
                </a:solidFill>
                <a:latin typeface="Segoe UI"/>
              </a:rPr>
              <a:t>Racha de estudio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Cuenta los días seguidos en que completo al menos una lección. Si deja pasar un día, la racha vuelve a 1, pero se conserva el registro de la racha más larga.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276088"/>
            <a:ext cx="548640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5276088"/>
            <a:ext cx="82296" cy="107899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>
                <a:solidFill>
                  <a:srgbClr val="0A2D4D"/>
                </a:solidFill>
                <a:latin typeface="Segoe UI"/>
              </a:rPr>
              <a:t>Ranking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Tabla con los cinco usuarios de más puntos de la plataforma. El propio usuario se resalta como 'Usted'.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27648" y="5276088"/>
            <a:ext cx="548640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27648" y="5276088"/>
            <a:ext cx="82296" cy="1078992"/>
          </a:xfrm>
          <a:prstGeom prst="rect">
            <a:avLst/>
          </a:prstGeom>
          <a:solidFill>
            <a:srgbClr val="B4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6539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1">
                <a:solidFill>
                  <a:srgbClr val="0A2D4D"/>
                </a:solidFill>
                <a:latin typeface="Segoe UI"/>
              </a:rPr>
              <a:t>Insignias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Hay 5 insignias definidas (Primer paso, Constante, Certificado obtenido, Brigadista KG, Nota perfecta). La entrega automática queda para la Fase 2; hoy el catálogo está creado y la insignia se puede otorgar.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6473952"/>
            <a:ext cx="11064240" cy="310896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5528" y="6583680"/>
            <a:ext cx="1060704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Los puntos no se restan nunca y no influyen en el certificado.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MÓDULOS 11 Y 12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Notificaciones, auditoría y seguridad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Los dos módulos que sostienen la operacion y la confianza en los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276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NOTIFICACIONES AUTOMÁTICAS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486400" cy="4572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84831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Bienvenida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939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Al crearse la cuenta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487168"/>
            <a:ext cx="5486400" cy="4572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06039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Curso asignado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61518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Cuando la empresa entrega un curso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08375"/>
            <a:ext cx="5486400" cy="4572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127247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Recordatorio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36391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Curso pendiente sin iniciar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529583"/>
            <a:ext cx="5486400" cy="4572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5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Próximo a vencer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57599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Se acerca la fecha límite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050791"/>
            <a:ext cx="5486400" cy="4572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9663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Curso completado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78807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Felicitacion al terminar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72000"/>
            <a:ext cx="5486400" cy="4572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9087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Certificado disponible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0001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Con el enlace de descarga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093208"/>
            <a:ext cx="5486400" cy="4572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2120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Recuperar contraseña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22122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Enlace de restablecimiento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669280"/>
            <a:ext cx="5486400" cy="566928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779008"/>
            <a:ext cx="5029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1">
                <a:solidFill>
                  <a:srgbClr val="0A2D4D"/>
                </a:solidFill>
                <a:latin typeface="Segoe UI"/>
              </a:rPr>
              <a:t>Hoy llegan a la campana dentro de la plataforma. El envío por correo se activa al configurar el proveedor SMTP.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1627632"/>
            <a:ext cx="5230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AUDITORÍA Y SEGURIDAD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1965960"/>
            <a:ext cx="523036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0" y="1965960"/>
            <a:ext cx="73152" cy="658368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0256" y="2057400"/>
            <a:ext cx="4846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Qué se audita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Ingresos, creación, edición, publicación, asignación, revocación y exportación.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697480"/>
            <a:ext cx="523036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2697480"/>
            <a:ext cx="73152" cy="658368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20256" y="2788920"/>
            <a:ext cx="4846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Qué guarda cada renglon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Actor, correo, acción, entidad, resumen, fecha, y el estado antes y después.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3429000"/>
            <a:ext cx="523036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0" y="3429000"/>
            <a:ext cx="73152" cy="658368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0256" y="3520440"/>
            <a:ext cx="4846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Contraseñas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Cifradas con bcrypt. Nunca se guardan ni se envian en texto plano.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0" y="4160520"/>
            <a:ext cx="523036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4160520"/>
            <a:ext cx="73152" cy="658368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20256" y="4251959"/>
            <a:ext cx="4846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Sesión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Token firmado en cookie que el navegador no expone a scripts. Caduca a las 8 horas.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0" y="4892040"/>
            <a:ext cx="523036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00800" y="4892040"/>
            <a:ext cx="73152" cy="658368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0256" y="4983479"/>
            <a:ext cx="4846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Datos personales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Se registra la fecha en que la persona autorizo el tratamiento (Ley 1581 de 2012).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00800" y="5623559"/>
            <a:ext cx="523036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00800" y="5623559"/>
            <a:ext cx="73152" cy="658368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20256" y="5714999"/>
            <a:ext cx="4846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Trazabilidad academica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El avance y los intentos no se borran por una edición administrativa.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VISIÓN DE CONJUNTO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Recorrido completo de una capacitación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Desde que la empresa decide capacitar hasta que puede demostrarlo ante un auditor.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64208"/>
            <a:ext cx="3520440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792224"/>
            <a:ext cx="1417320" cy="292608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KG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38728" y="1773936"/>
            <a:ext cx="384048" cy="32918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A2D4D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19456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Crea y publica el curso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Estructura, contenidos, evaluaciones y reglas.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664208"/>
            <a:ext cx="3520440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43984" y="1792224"/>
            <a:ext cx="1417320" cy="292608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EMPRESA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1773936"/>
            <a:ext cx="384048" cy="32918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A2D4D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3984" y="219456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Registra a sus trabajadores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Por área, cargo y sede.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1" y="1664208"/>
            <a:ext cx="3520440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74735" y="1792224"/>
            <a:ext cx="1417320" cy="292608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EMPRESA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00231" y="1773936"/>
            <a:ext cx="384048" cy="32918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A2D4D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19456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Asigna el curso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Con fecha límite y carácter obligatorio.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081528"/>
            <a:ext cx="3520440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3232" y="3209544"/>
            <a:ext cx="1417320" cy="292608"/>
          </a:xfrm>
          <a:prstGeom prst="roundRect">
            <a:avLst>
              <a:gd name="adj" fmla="val 6000"/>
            </a:avLst>
          </a:prstGeom>
          <a:solidFill>
            <a:srgbClr val="B4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SISTEMA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38728" y="3191256"/>
            <a:ext cx="384048" cy="32918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A2D4D"/>
                </a:solidFill>
                <a:latin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61188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Notifica al trabajador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Aviso interno con el enlace directo.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3081528"/>
            <a:ext cx="3520440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43984" y="3209544"/>
            <a:ext cx="1417320" cy="292608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>
                <a:solidFill>
                  <a:srgbClr val="0A2D4D"/>
                </a:solidFill>
                <a:latin typeface="Segoe UI"/>
              </a:rPr>
              <a:t>TRABAJADOR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69480" y="3191256"/>
            <a:ext cx="384048" cy="32918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A2D4D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4" y="361188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Estudia en el aula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El avance se guarda lección a lección.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28431" y="3081528"/>
            <a:ext cx="3520440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74735" y="3209544"/>
            <a:ext cx="1417320" cy="292608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>
                <a:solidFill>
                  <a:srgbClr val="0A2D4D"/>
                </a:solidFill>
                <a:latin typeface="Segoe UI"/>
              </a:rPr>
              <a:t>TRABAJADOR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00231" y="3191256"/>
            <a:ext cx="384048" cy="32918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A2D4D"/>
                </a:solidFill>
                <a:latin typeface="Segoe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4735" y="361188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Presenta la evaluación final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Calificación automática e inmediata.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98848"/>
            <a:ext cx="3520440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13232" y="4626864"/>
            <a:ext cx="1417320" cy="292608"/>
          </a:xfrm>
          <a:prstGeom prst="roundRect">
            <a:avLst>
              <a:gd name="adj" fmla="val 6000"/>
            </a:avLst>
          </a:prstGeom>
          <a:solidFill>
            <a:srgbClr val="B4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SISTEMA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38728" y="4608576"/>
            <a:ext cx="384048" cy="32918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A2D4D"/>
                </a:solidFill>
                <a:latin typeface="Segoe U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502920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Emite el certificado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Código único y QR verificable.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4498848"/>
            <a:ext cx="3520440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43984" y="4626864"/>
            <a:ext cx="1417320" cy="292608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EMPRESA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69480" y="4608576"/>
            <a:ext cx="384048" cy="32918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A2D4D"/>
                </a:solidFill>
                <a:latin typeface="Segoe UI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3984" y="502920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Descarga la evidencia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Reporte CSV y certificados.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28431" y="4498848"/>
            <a:ext cx="3520440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174735" y="4626864"/>
            <a:ext cx="1417320" cy="292608"/>
          </a:xfrm>
          <a:prstGeom prst="roundRect">
            <a:avLst>
              <a:gd name="adj" fmla="val 6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>
                <a:solidFill>
                  <a:srgbClr val="FFFFFF"/>
                </a:solidFill>
                <a:latin typeface="Segoe UI"/>
              </a:rPr>
              <a:t>AUDITOR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00231" y="4608576"/>
            <a:ext cx="384048" cy="32918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A2D4D"/>
                </a:solidFill>
                <a:latin typeface="Segoe UI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74735" y="5029200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Verifica el certificado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Escanea el QR sin necesidad de cuenta.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6144768"/>
            <a:ext cx="11064240" cy="411480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528" y="6254496"/>
            <a:ext cx="10607040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Todo el recorrido queda registrado: cada paso deja fecha, responsable y evidencia descargable.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REFERENCIA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Glosario y estados del sistema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Vocabulario comun para hablar todos de lo mismo.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5486399" cy="4133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9372"/>
                <a:gridCol w="3707027"/>
              </a:tblGrid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Termino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Significado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Matrícula (enrollment)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El vinculo entre una persona y un curso. Guarda el avance, la nota y las fechas.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Asignación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La orden de la empresa para que un trabajador tome un curso. Tiene fecha límite.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Lote de asignación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El grupo de asignaciones creadas de una sola vez. Sirve para auditar.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Intento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Cada vez que alguien envia una evaluación. Se guardan todos, no solo el mejor.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Nota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Calificación de 0 a 100 de una evaluación. Decide la aprobación.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Puntos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Marcador de gamificación. No decide nada academico.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Código de verificación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Identificador único del certificado, formato KG-AAAA-XXXXXX.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Datos congelados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La información que queda fija en el certificado al emitirlo.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27648" y="1627632"/>
          <a:ext cx="5303520" cy="4133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4272"/>
                <a:gridCol w="3889248"/>
              </a:tblGrid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Entidad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Estados posibles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Curso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borrador · revisión · publicado · despublicado · archivado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Matrícula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no iniciado · en progreso · completado · vencido · anulado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Asignación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asignado · en progreso · completado · vencido · cancelado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Lección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no iniciado · en progreso · completado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Intento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en curso · finalizado · anulado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Certificado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vigente · vencido · revocado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Usuario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activo · pendiente de activación · inactivo · bloqueado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Empresa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activa · suspendida · inactiva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REFERENCIA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Qué está listo y que falta definir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Transparencia sobre el alcance entregado.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276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ENTREGADO Y FUNCIONANDO</a:t>
            </a:r>
          </a:p>
        </p:txBody>
      </p:sp>
      <p:sp>
        <p:nvSpPr>
          <p:cNvPr id="9" name="Oval 8"/>
          <p:cNvSpPr/>
          <p:nvPr/>
        </p:nvSpPr>
        <p:spPr>
          <a:xfrm>
            <a:off x="621792" y="2011679"/>
            <a:ext cx="146304" cy="146304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80" b="0">
                <a:solidFill>
                  <a:srgbClr val="334455"/>
                </a:solidFill>
                <a:latin typeface="Segoe UI"/>
              </a:rPr>
              <a:t>Modelo de datos completo (44 tablas)</a:t>
            </a:r>
          </a:p>
        </p:txBody>
      </p:sp>
      <p:sp>
        <p:nvSpPr>
          <p:cNvPr id="11" name="Oval 10"/>
          <p:cNvSpPr/>
          <p:nvPr/>
        </p:nvSpPr>
        <p:spPr>
          <a:xfrm>
            <a:off x="621792" y="2377439"/>
            <a:ext cx="146304" cy="146304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33172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80" b="0">
                <a:solidFill>
                  <a:srgbClr val="334455"/>
                </a:solidFill>
                <a:latin typeface="Segoe UI"/>
              </a:rPr>
              <a:t>Acceso, roles, permisos y aislamiento por empresa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" y="2743199"/>
            <a:ext cx="146304" cy="146304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97479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80" b="0">
                <a:solidFill>
                  <a:srgbClr val="334455"/>
                </a:solidFill>
                <a:latin typeface="Segoe UI"/>
              </a:rPr>
              <a:t>Catálogo, ficha de curso y matrícula</a:t>
            </a:r>
          </a:p>
        </p:txBody>
      </p:sp>
      <p:sp>
        <p:nvSpPr>
          <p:cNvPr id="15" name="Oval 14"/>
          <p:cNvSpPr/>
          <p:nvPr/>
        </p:nvSpPr>
        <p:spPr>
          <a:xfrm>
            <a:off x="621792" y="3108959"/>
            <a:ext cx="146304" cy="146304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063239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80" b="0">
                <a:solidFill>
                  <a:srgbClr val="334455"/>
                </a:solidFill>
                <a:latin typeface="Segoe UI"/>
              </a:rPr>
              <a:t>Aula virtual con progreso lección a lección</a:t>
            </a:r>
          </a:p>
        </p:txBody>
      </p:sp>
      <p:sp>
        <p:nvSpPr>
          <p:cNvPr id="17" name="Oval 16"/>
          <p:cNvSpPr/>
          <p:nvPr/>
        </p:nvSpPr>
        <p:spPr>
          <a:xfrm>
            <a:off x="621792" y="3474719"/>
            <a:ext cx="146304" cy="146304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428999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80" b="0">
                <a:solidFill>
                  <a:srgbClr val="334455"/>
                </a:solidFill>
                <a:latin typeface="Segoe UI"/>
              </a:rPr>
              <a:t>Constructor de cursos para cargar contenido sin programar</a:t>
            </a:r>
          </a:p>
        </p:txBody>
      </p:sp>
      <p:sp>
        <p:nvSpPr>
          <p:cNvPr id="19" name="Oval 18"/>
          <p:cNvSpPr/>
          <p:nvPr/>
        </p:nvSpPr>
        <p:spPr>
          <a:xfrm>
            <a:off x="621792" y="3840479"/>
            <a:ext cx="146304" cy="146304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794759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80" b="0">
                <a:solidFill>
                  <a:srgbClr val="334455"/>
                </a:solidFill>
                <a:latin typeface="Segoe UI"/>
              </a:rPr>
              <a:t>Evaluaciones con calificación automática y retroalimentacion</a:t>
            </a:r>
          </a:p>
        </p:txBody>
      </p:sp>
      <p:sp>
        <p:nvSpPr>
          <p:cNvPr id="21" name="Oval 20"/>
          <p:cNvSpPr/>
          <p:nvPr/>
        </p:nvSpPr>
        <p:spPr>
          <a:xfrm>
            <a:off x="621792" y="4206240"/>
            <a:ext cx="146304" cy="146304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16052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80" b="0">
                <a:solidFill>
                  <a:srgbClr val="334455"/>
                </a:solidFill>
                <a:latin typeface="Segoe UI"/>
              </a:rPr>
              <a:t>Certificados automáticos con QR y verificación pública</a:t>
            </a:r>
          </a:p>
        </p:txBody>
      </p:sp>
      <p:sp>
        <p:nvSpPr>
          <p:cNvPr id="23" name="Oval 22"/>
          <p:cNvSpPr/>
          <p:nvPr/>
        </p:nvSpPr>
        <p:spPr>
          <a:xfrm>
            <a:off x="621792" y="4572000"/>
            <a:ext cx="146304" cy="146304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5262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80" b="0">
                <a:solidFill>
                  <a:srgbClr val="334455"/>
                </a:solidFill>
                <a:latin typeface="Segoe UI"/>
              </a:rPr>
              <a:t>Panel empresarial con asignación masiva y seguimiento</a:t>
            </a:r>
          </a:p>
        </p:txBody>
      </p:sp>
      <p:sp>
        <p:nvSpPr>
          <p:cNvPr id="25" name="Oval 24"/>
          <p:cNvSpPr/>
          <p:nvPr/>
        </p:nvSpPr>
        <p:spPr>
          <a:xfrm>
            <a:off x="621792" y="4937760"/>
            <a:ext cx="146304" cy="146304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80" b="0">
                <a:solidFill>
                  <a:srgbClr val="334455"/>
                </a:solidFill>
                <a:latin typeface="Segoe UI"/>
              </a:rPr>
              <a:t>Reportes CSV y panel de administración KG</a:t>
            </a:r>
          </a:p>
        </p:txBody>
      </p:sp>
      <p:sp>
        <p:nvSpPr>
          <p:cNvPr id="27" name="Oval 26"/>
          <p:cNvSpPr/>
          <p:nvPr/>
        </p:nvSpPr>
        <p:spPr>
          <a:xfrm>
            <a:off x="621792" y="5303520"/>
            <a:ext cx="146304" cy="146304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2578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80" b="0">
                <a:solidFill>
                  <a:srgbClr val="334455"/>
                </a:solidFill>
                <a:latin typeface="Segoe UI"/>
              </a:rPr>
              <a:t>Gamificación de puntos, niveles y rachas</a:t>
            </a:r>
          </a:p>
        </p:txBody>
      </p:sp>
      <p:sp>
        <p:nvSpPr>
          <p:cNvPr id="29" name="Oval 28"/>
          <p:cNvSpPr/>
          <p:nvPr/>
        </p:nvSpPr>
        <p:spPr>
          <a:xfrm>
            <a:off x="621792" y="5669280"/>
            <a:ext cx="146304" cy="146304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6235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80" b="0">
                <a:solidFill>
                  <a:srgbClr val="334455"/>
                </a:solidFill>
                <a:latin typeface="Segoe UI"/>
              </a:rPr>
              <a:t>Auditoría de acciones relevantes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1627632"/>
            <a:ext cx="5230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B47A0C"/>
                </a:solidFill>
                <a:latin typeface="Segoe UI"/>
              </a:rPr>
              <a:t>PENDIENTE DE KG O DE FASE 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1965960"/>
            <a:ext cx="5230368" cy="60350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01968" y="2048255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Banco oficial de preguntas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Las 6 preguntas cargadas son de ejemplo; KG debe entregar las definitivas.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2642615"/>
            <a:ext cx="5230368" cy="60350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01968" y="2724911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Contenido audiovisual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Videos, PDF y recursos de Genially de los tres cursos.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3319272"/>
            <a:ext cx="5230368" cy="60350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01968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Pasarela de pagos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Marcada POR DEFINIR en el esqueleto. Las tablas ya existen.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995928"/>
            <a:ext cx="5230368" cy="60350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01968" y="407822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Proveedor de correo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Configurar SMTP para que las notificaciones salgan por email.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4672584"/>
            <a:ext cx="5230368" cy="60350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01968" y="47548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Entrega automática de insignias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El catálogo existe; falta la regla que las otorga sola.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0" y="5349240"/>
            <a:ext cx="5230368" cy="60350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01968" y="5431536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Edición de usuarios desde la interfaz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19" b="0">
                <a:solidFill>
                  <a:srgbClr val="6B7C8C"/>
                </a:solidFill>
                <a:latin typeface="Segoe UI"/>
              </a:rPr>
              <a:t>Hoy se administran por base de datos o seed.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527" y="777240"/>
            <a:ext cx="2834640" cy="2834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3886200"/>
            <a:ext cx="94484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KG ACADEMY</a:t>
            </a:r>
          </a:p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1500" b="0">
                <a:solidFill>
                  <a:srgbClr val="8FBF16"/>
                </a:solidFill>
                <a:latin typeface="Segoe UI"/>
              </a:rPr>
              <a:t>Un manual para operar la plataforma sin depender del desarrollador.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C5D5E5"/>
                </a:solidFill>
                <a:latin typeface="Segoe UI"/>
              </a:rPr>
              <a:t>KG GESTIÓN INTEGRAL S.A.S.  ·  KATERINE GUAÑARITA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1207" y="5623560"/>
            <a:ext cx="5669280" cy="566928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2647" y="5751576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8FBF16"/>
                </a:solidFill>
                <a:latin typeface="Segoe UI"/>
              </a:rPr>
              <a:t>Diseñado y desarrollado por Diego Alejandro Hernández Blanco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