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056" y="141732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32588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FBF16"/>
                </a:solidFill>
                <a:latin typeface="Segoe UI"/>
              </a:rPr>
              <a:t>MANUAL FUNCIONAL  ·  VERSION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KG ACADEMY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8FBF16"/>
                </a:solidFill>
                <a:latin typeface="Segoe UI"/>
              </a:rPr>
              <a:t>Como funciona la plataforma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03320"/>
            <a:ext cx="1371600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C5D5E5"/>
                </a:solidFill>
                <a:latin typeface="Segoe UI"/>
              </a:rPr>
              <a:t>Recorrido modulo por modulo: roles y permisos, aula virtual, motor de progreso, calificacion de evaluaciones, emision de certificados, panel empresarial, gamificacion, notificaciones y auditoria.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94960"/>
            <a:ext cx="6766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KG GESTION INTEGRAL S.A.S.  ·  KATERINE GUANARITA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FBF16"/>
                </a:solidFill>
                <a:latin typeface="Segoe UI"/>
              </a:rPr>
              <a:t>Realizado por Diego Alejandro Hernandez Blanco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7C8C"/>
                </a:solidFill>
                <a:latin typeface="Segoe UI"/>
              </a:rPr>
              <a:t>Bogota D.C., Colombia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COMO LEER ESTE MANUAL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Guia rapida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Cada modulo se explica en tres capas: que hace, como lo hace el sistema y que debe hacer el usuario.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647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QUE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6771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El objetivo del modulo en una frase, en lenguaje de negocio.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459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6459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7647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COMO FUNCIONA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26771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La regla exacta que aplica el sistema, con la formula o el flujo cuando aplica.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6459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6459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7647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QUIEN LO USA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26771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El rol responsable y la pantalla concreta donde se opera.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2900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29000"/>
            <a:ext cx="82296" cy="105156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47872"/>
            <a:ext cx="502920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A2D4D"/>
                </a:solidFill>
                <a:latin typeface="Segoe UI"/>
              </a:rPr>
              <a:t>12 modulos funcionales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C8C"/>
                </a:solidFill>
                <a:latin typeface="Segoe UI"/>
              </a:rPr>
              <a:t>Desde el acceso hasta la auditoria.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342900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3429000"/>
            <a:ext cx="82296" cy="105156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547872"/>
            <a:ext cx="502920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A2D4D"/>
                </a:solidFill>
                <a:latin typeface="Segoe UI"/>
              </a:rPr>
              <a:t>6 roles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C8C"/>
                </a:solidFill>
                <a:latin typeface="Segoe UI"/>
              </a:rPr>
              <a:t>Con permisos distintos y pantallas distintas.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6344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663440"/>
            <a:ext cx="82296" cy="105156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782312"/>
            <a:ext cx="502920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A2D4D"/>
                </a:solidFill>
                <a:latin typeface="Segoe UI"/>
              </a:rPr>
              <a:t>2 sistemas de puntaje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C8C"/>
                </a:solidFill>
                <a:latin typeface="Segoe UI"/>
              </a:rPr>
              <a:t>La NOTA de las evaluaciones y los PUNTOS de gamificacion. No son lo mismo.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466344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7648" y="4663440"/>
            <a:ext cx="82296" cy="105156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4782312"/>
            <a:ext cx="502920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A2D4D"/>
                </a:solidFill>
                <a:latin typeface="Segoe UI"/>
              </a:rPr>
              <a:t>1 regla de aprobacion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C8C"/>
                </a:solidFill>
                <a:latin typeface="Segoe UI"/>
              </a:rPr>
              <a:t>Lecciones obligatorias completas + evaluacion final aprobada.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98932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6099048"/>
            <a:ext cx="1060704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Advertencia importante: en este manual, NOTA (0 a 100) decide si aprueba. PUNTOS (gamificacion) solo motivan; nunca afectan la aprobacion ni el certificado.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MAPA GENERAL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Los 12 modulos de la plataforma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Agrupados por el rol que los usa principalmente.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EL ESTUDIANTE / TRABAJADOR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3042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01  Acceso y cuenta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Registro, ingreso, sesion y recuperacion de contrasena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986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9900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02  Catalogo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Explorar cursos y ver la ficha completa antes de inscribirse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844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675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03  Aula virtual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Estudiar leccion a leccion con el avance guardado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702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3616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04  Evaluaciones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Diagnostica, por modulo y final, con calificacion inmediata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560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0474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05  Certificados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Descarga en PDF y verificacion publica con QR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6418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7332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06  Gamificacion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Puntos, niveles, insignias y racha de estudio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627632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LA EMPRESA Y KG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22128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3042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07  Trabajadores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Nomina por area, cargo y sede; alta individual o masiva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28986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29900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08  Asignacion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Entregar cursos con fecha limite y caracter obligatorio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35844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3675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09  Seguimiento y reportes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Estado de cada persona y exportacion a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42702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3616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10  Administracion KG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Cursos, contenidos, usuarios, empresas y planes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49560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50474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11  Notificaciones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Avisos automaticos al trabajador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7648" y="5641848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57332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12  Auditoria y seguridad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9" b="0">
                <a:solidFill>
                  <a:srgbClr val="6B7C8C"/>
                </a:solidFill>
                <a:latin typeface="Segoe UI"/>
              </a:rPr>
              <a:t>Quien hizo que, cuando y sobre que registro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ROLES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Los 6 roles y que puede hacer cada uno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El rol se asigna al crear la cuenta y determina a que panel entra el usuario al iniciar sesion.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27632"/>
          <a:ext cx="1106423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300"/>
                <a:gridCol w="1106424"/>
                <a:gridCol w="4766134"/>
                <a:gridCol w="1446862"/>
                <a:gridCol w="1957519"/>
              </a:tblGrid>
              <a:tr h="3291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Rol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Alcance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Que puede hacer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Entra 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Quien lo usa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SuperAdmin KG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Plataforma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Acceso total sin restriccion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/admin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Katerine / direccion de KG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Administrador KG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Plataforma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Opera cursos, usuarios, empresas, certificados y reportes; no toca configuracion sensible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/admin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Equipo operativo de KG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Instructor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Plataforma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Crea y edita SUS cursos, contenidos y evaluaciones; consulta resultados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/admin/cursos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Docente o experto tematico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Administrador de empresa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Su empresa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Gestiona trabajadores, asigna cursos, consulta cumplimiento y descarga reportes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/empresa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Talento humano del cliente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Supervisor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Su empresa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Solo consulta: ve trabajadores, avance e indicadores. No asigna ni edita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/empresa/seguimiento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Jefe de area o HSE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Estudiante / Trabajador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Propio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Estudia, presenta evaluaciones y descarga sus certificados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/aula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Persona que se capacita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80644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591616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Regla de aislamiento: un administrador de empresa NUNCA ve datos de otra empresa. El sistema lo valida en el servidor en cada consulta, no solo escondiendo botones en pantalla.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ROLES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Como se controla el permiso en la practica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Tres barreras independientes. Si una falla, las otras siguen protegiendo la informacion.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6949440" cy="86868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79222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92224"/>
            <a:ext cx="5989320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Barrera de navegacion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El menu lateral solo muestra las secciones del rol. Un supervisor ni siquiera ve el boton 'Asignar cursos'.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79192"/>
            <a:ext cx="6949440" cy="86868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2779776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79776"/>
            <a:ext cx="5989320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Barrera de pagina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Al abrir una direccion, el servidor comprueba el rol antes de responder. Si no corresponde, redirige al panel del usuario.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66744"/>
            <a:ext cx="6949440" cy="86868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767328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67328"/>
            <a:ext cx="5989320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Barrera de dato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Cada consulta filtra por la empresa del usuario. Aunque alguien adivine el identificador de otro trabajador, no obtiene la informacion.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691640"/>
            <a:ext cx="3858768" cy="283464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1874519"/>
            <a:ext cx="3383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EN NUMEROS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6 roles definidos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72 permisos granulares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9 modulos protegidos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Los permisos se nombran modulo.accion, por ejemplo cursos.publicar o certificados.revocar.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4632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956048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La matriz completa rol por permiso se consulta en la plataforma: Administracion  →  Matriz de permisos.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Estados posibles de una cuenta: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334455"/>
                </a:solidFill>
                <a:latin typeface="Segoe UI"/>
              </a:rPr>
              <a:t>activo  ·  puede entrar y estudiar          pendiente_activacion  ·  creado por la empresa, aun no ha entrado          inactivo  ·  se conserva el historico pero no puede entrar          bloqueado  ·  acceso denegado por decision administrativa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 01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Acceso y cuenta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Como entra una persona a KG Academy y como se protege su sesion.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3520440" cy="438912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Registro publico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02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34455"/>
                </a:solidFill>
                <a:latin typeface="Segoe UI"/>
              </a:rPr>
              <a:t>La persona se registra en /registro. Si escribe el NIT de una empresa ya creada, queda vinculada automaticamente a ella.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4592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645920"/>
            <a:ext cx="3520440" cy="438912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Alta por la empresa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2402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34455"/>
                </a:solidFill>
                <a:latin typeface="Segoe UI"/>
              </a:rPr>
              <a:t>Talento humano crea al trabajador desde el panel. Nace con contrasena temporal KgAcademy2026* y estado 'pendiente de activacion'.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64592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645920"/>
            <a:ext cx="3520440" cy="43891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Alta por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2402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34455"/>
                </a:solidFill>
                <a:latin typeface="Segoe UI"/>
              </a:rPr>
              <a:t>La administracion crea cuentas de staff, instructores o administradores de empresa.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290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QUE PASA CUANDO ALGUIEN INICIA SESION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79476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389534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895344"/>
            <a:ext cx="1010412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Se valida la contrasena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Se compara contra el hash bcrypt guardado. La contrasena real nunca se almacena.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15968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3232" y="4416552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416552"/>
            <a:ext cx="1010412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Se verifica el estado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Una cuenta bloqueada o inactiva no puede entrar, aunque la contrasena sea correcta.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837176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937760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937760"/>
            <a:ext cx="1010412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Se crea la sesion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Se firma un token JWT valido por 8 horas y se guarda en una cookie que el navegador no puede leer por script.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58384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5458968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458968"/>
            <a:ext cx="1010412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Se registra el acceso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Se actualiza la fecha de ultimo ingreso, se suma al contador y queda un renglon en auditoria.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879592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232" y="5980176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980176"/>
            <a:ext cx="1010412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Se redirige segun el rol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Estudiante al aula, empresa a su panel, KG a la administracion.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MODULOS 02 Y 03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Catalogo y estructura de un curso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Como esta organizado el contenido academico dentro de la plataforma.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JERARQUIA DEL CONTENIDO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07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48255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CATEGORIA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Segoe UI"/>
              </a:rPr>
              <a:t>Primeros Auxilios, SST, Riesgo Psicosocial,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1344" y="2587752"/>
            <a:ext cx="5351983" cy="54864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" y="2670048"/>
            <a:ext cx="489478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CURSO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Segoe UI"/>
              </a:rPr>
              <a:t>Ficha, reglas de aprobacion y certificado. Ej: KG-PA-001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" y="3209544"/>
            <a:ext cx="5217566" cy="548640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641" y="3291840"/>
            <a:ext cx="476036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MODULO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Segoe UI"/>
              </a:rPr>
              <a:t>Bloque tematico con un peso dentro del curso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0178" y="3831336"/>
            <a:ext cx="5083149" cy="54864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3058" y="3913632"/>
            <a:ext cx="46259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LECCION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0A2D4D"/>
                </a:solidFill>
                <a:latin typeface="Segoe UI"/>
              </a:rPr>
              <a:t>Unidad minima. Aqui vive el contenido y aqui se mide el avance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04595" y="4453128"/>
            <a:ext cx="4948732" cy="54864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7475" y="4535424"/>
            <a:ext cx="44915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RECURSO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0A2D4D"/>
                </a:solidFill>
                <a:latin typeface="Segoe UI"/>
              </a:rPr>
              <a:t>Anexos descargables de la leccion (PDF, plantillas, normas)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2763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TIPOS DE CONTENIDO QUE ACEPTA UNA LECCION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965960"/>
            <a:ext cx="5230368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048255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pendiente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075688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6B7C8C"/>
                </a:solidFill>
                <a:latin typeface="Segoe UI"/>
              </a:rPr>
              <a:t>Sin material aun. Muestra el espacio reservado de KG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505456"/>
            <a:ext cx="5230368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2587751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video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615184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6B7C8C"/>
                </a:solidFill>
                <a:latin typeface="Segoe UI"/>
              </a:rPr>
              <a:t>Se embebe el reproductor (Vimeo, YouTube, etc.)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044951"/>
            <a:ext cx="5230368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3127247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genially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154679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6B7C8C"/>
                </a:solidFill>
                <a:latin typeface="Segoe UI"/>
              </a:rPr>
              <a:t>Recurso interactivo embebido a pantalla completa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584447"/>
            <a:ext cx="5230368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666744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694175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6B7C8C"/>
                </a:solidFill>
                <a:latin typeface="Segoe UI"/>
              </a:rPr>
              <a:t>Documento visible dentro del aula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123944"/>
            <a:ext cx="5230368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4206240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texto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233672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6B7C8C"/>
                </a:solidFill>
                <a:latin typeface="Segoe UI"/>
              </a:rPr>
              <a:t>Contenido escrito directamente en la plataforma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663440"/>
            <a:ext cx="5230368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4745736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enlace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773168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6B7C8C"/>
                </a:solidFill>
                <a:latin typeface="Segoe UI"/>
              </a:rPr>
              <a:t>Recurso externo que se abre en otra pestana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202936"/>
            <a:ext cx="5230368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5285231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scorm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312664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6B7C8C"/>
                </a:solidFill>
                <a:latin typeface="Segoe UI"/>
              </a:rPr>
              <a:t>Paquete de e-learning estandar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76072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5870448"/>
            <a:ext cx="1060704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Estados de un curso:  borrador  →  revision  →  publicado  →  despublicado  →  archivado. Solo un curso publicado aparece en el catalogo publico.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 03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Como carga KG el contenido de una leccion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Procedimiento operativo. No requiere programador ni tocar el codigo.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722376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64792"/>
            <a:ext cx="62636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Entrar como SuperAdmin o Instructor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Menu lateral  →  Cursos.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95728"/>
            <a:ext cx="722376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2496312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96312"/>
            <a:ext cx="62636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Abrir el Constructor del curso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Boton verde 'Constructor' en la tarjeta del curso.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27248"/>
            <a:ext cx="722376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227832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27832"/>
            <a:ext cx="62636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Elegir el tipo de contenido de la leccion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Lista desplegable: video, genially, pdf, texto, enlace o scorm.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58768"/>
            <a:ext cx="722376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3959352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59352"/>
            <a:ext cx="62636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Pegar la URL del recurso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La direccion del video, del Genially o del documento. El material vive en el proveedor; la plataforma solo lo referencia.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0288"/>
            <a:ext cx="722376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690872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90872"/>
            <a:ext cx="62636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Guardar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La leccion pasa de 'contenido pendiente' a 'contenido cargado' y se publica automaticamente.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21807"/>
            <a:ext cx="722376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5422391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422391"/>
            <a:ext cx="62636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Publicar el curso cuando este completo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Panel derecho del constructor: borrador, revision, publicado o despublicado.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664208"/>
            <a:ext cx="3584448" cy="310896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847088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QUEDA REGISTRADO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Cada cambio de contenido se guarda en auditoria con: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 Quien lo hizo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 Fecha y hora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 Que tenia antes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 Que quedo despues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937760"/>
            <a:ext cx="3584448" cy="73152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5047488"/>
            <a:ext cx="3127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El indicador 'contenido cargado' del panel muestra cuantas lecciones ya tienen material.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6035040"/>
            <a:ext cx="722376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6144768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Mientras una leccion este en 'pendiente', el estudiante ve un espacio reservado con la marca KG, no un 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 04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El aula virtual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Lo que ve y hace el trabajador cuando entra a estudiar.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96012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64792"/>
            <a:ext cx="50292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Indice permanente a la izquierda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Modulos, lecciones, evaluaciones y certificado. Marca en verde lo ya completado.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645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645920"/>
            <a:ext cx="82296" cy="96012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764792"/>
            <a:ext cx="50292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Continuar donde quedo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El sistema abre por defecto la primera leccion pendiente; no hay que buscarla.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432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743200"/>
            <a:ext cx="82296" cy="96012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862072"/>
            <a:ext cx="50292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Cronometro de permanencia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Mide el tiempo real dedicado a cada leccion y lo acumula en el historico.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7432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2743200"/>
            <a:ext cx="82296" cy="96012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862072"/>
            <a:ext cx="50292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Marcar como completada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Boton explicito. Al pulsarlo avanza el porcentaje y salta a la leccion siguiente.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4048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40480"/>
            <a:ext cx="82296" cy="96012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59352"/>
            <a:ext cx="50292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Evaluacion final bloqueada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Aparece con candado hasta terminar todas las lecciones obligatorias.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384048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3840480"/>
            <a:ext cx="82296" cy="96012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959352"/>
            <a:ext cx="50292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Certificado en el mismo indice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Cuando se cumple la regla, el boton se activa solo.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029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LO QUE EL SISTEMA GUARDA DE CADA LECCION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376672"/>
            <a:ext cx="1764792" cy="7315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5477256"/>
            <a:ext cx="1508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Estado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no iniciado / en progreso / completado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5376672"/>
            <a:ext cx="1764792" cy="7315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5477256"/>
            <a:ext cx="1508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Porcentaje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avance dentro de la leccion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9392" y="5376672"/>
            <a:ext cx="1764792" cy="7315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5477256"/>
            <a:ext cx="1508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Tiempo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segundos acumulados de permanencia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35624" y="5376672"/>
            <a:ext cx="1764792" cy="7315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5477256"/>
            <a:ext cx="1508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Posicion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segundo exacto del video para retomar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1855" y="5376672"/>
            <a:ext cx="1764792" cy="7315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29015" y="5477256"/>
            <a:ext cx="1508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Vistas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cuantas veces la abrio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48087" y="5376672"/>
            <a:ext cx="1764792" cy="7315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85247" y="5477256"/>
            <a:ext cx="1508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Fechas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inicio y finalizacion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MOTOR DE PROGRESO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Como se calcula el porcentaje de avance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Esta es la regla mas importante de la plataforma y es configurable curso por curso.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LAS TRES FORMAS DE CALCULARLO  ·  campo courses.progressRule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385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38528"/>
            <a:ext cx="82296" cy="9144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6654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obligatorios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7A0C"/>
                </a:solidFill>
                <a:latin typeface="Segoe UI"/>
              </a:rPr>
              <a:t>POR DEFECTO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66544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334455"/>
                </a:solidFill>
                <a:latin typeface="Segoe UI"/>
              </a:rPr>
              <a:t>% = lecciones obligatorias completadas / total de lecciones obligatorias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Todas las lecciones pesan igual. Es la mas facil de explicar al auditor.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4436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944368"/>
            <a:ext cx="82296" cy="91440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peso_lecciones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B4A73"/>
                </a:solidFill>
                <a:latin typeface="Segoe UI"/>
              </a:rPr>
              <a:t>AVANZADA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72384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334455"/>
                </a:solidFill>
                <a:latin typeface="Segoe UI"/>
              </a:rPr>
              <a:t>% = suma del peso de las lecciones completadas / suma total de pesos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Permite que una leccion larga valga mas que una corta.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950208"/>
            <a:ext cx="82296" cy="914400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7822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peso_modulos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0A2D4D"/>
                </a:solidFill>
                <a:latin typeface="Segoe UI"/>
              </a:rPr>
              <a:t>AVANZADA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78224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334455"/>
                </a:solidFill>
                <a:latin typeface="Segoe UI"/>
              </a:rPr>
              <a:t>% = suma ponderada del avance de cada modulo segun su peso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Util cuando un modulo completo debe pesar mas que otro.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2920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6636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EJEMPLO REAL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Primeros Auxilios Basicos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17 lecciones obligatorias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5193792"/>
            <a:ext cx="2377440" cy="896112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5285232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Completa 6 lecciones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8FBF16"/>
                </a:solidFill>
                <a:latin typeface="Segoe UI"/>
              </a:rPr>
              <a:t>6 / 17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35,3 %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5193792"/>
            <a:ext cx="2377440" cy="896112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5285232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Completa 12 lecciones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8FBF16"/>
                </a:solidFill>
                <a:latin typeface="Segoe UI"/>
              </a:rPr>
              <a:t>12 / 17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70,6 %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5193792"/>
            <a:ext cx="2377440" cy="896112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5285232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Completa 17 lecciones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8FBF16"/>
                </a:solidFill>
                <a:latin typeface="Segoe UI"/>
              </a:rPr>
              <a:t>17 / 17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100 %  pero aun NO aprobado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6355080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6464808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Llegar al 100 % de lecciones NO aprueba el curso por si solo: falta la evaluacion final. Ver la lamina siguiente.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MOTOR DE PROGRESO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Cuando se considera un curso APROBADO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El sistema evalua dos condiciones. Las dos deben cumplirse.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69164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691640"/>
            <a:ext cx="4206240" cy="41148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17830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CONDICION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24028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Lecciones obligatorias al 100 %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Si el curso tiene requiresAllLessons activo (asi estan los tres cursos de KG).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2084831"/>
            <a:ext cx="685800" cy="59436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0A2D4D"/>
                </a:solidFill>
                <a:latin typeface="Segoe UI"/>
              </a:rPr>
              <a:t>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9164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0" y="1691640"/>
            <a:ext cx="4206240" cy="41148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7830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CONDICION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24028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Evaluacion final aprobada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Nota igual o superior al minimo del curso (80 sobre 100 por defecto).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291840"/>
            <a:ext cx="3749039" cy="50292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CURSO COMPLETADO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0233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Y ENTONCES EL SISTEMA HACE ESTO, SOLO, EN EL MISMO INSTANTE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70832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4480560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8646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Emite el certificado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Con codigo unico, QR y los datos congelados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07208" y="4370832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44368" y="4480560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48646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Suma 100 puntos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Al marcador de gamificacion del trabajador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7488" y="4370832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84648" y="4480560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48646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Notifica al trabajador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Aviso interno con el enlace de descarga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7768" y="4370832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24928" y="4480560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48646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Cierra la asignacion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La empresa ve el estado en 'completado'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8" y="4370832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65208" y="4480560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48646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Actualiza los indicadores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Cumplimiento por area, cargo y sede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3212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5641848"/>
            <a:ext cx="10607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Si el curso se configura con requiresFinalExam desactivado, basta la condicion 1. Si se configura con requiresAllLessons desactivado, basta con haber iniciado y aprobar la final. Ambos interruptores son por curso.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236208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6345936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El historico nunca se borra: una edicion administrativa del curso no elimina el avance ya registrado.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 05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Evaluaciones: tipos y configuracion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Cada curso puede tener evaluacion diagnostica, evaluaciones por modulo y evaluacion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DIAGNOSTICA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0280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Antes de empezar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Mide el conocimiento previo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NO afecta la aprobacion. Siempre se registra como presentada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459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6459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POR MODULO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240280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8FBF16"/>
                </a:solidFill>
                <a:latin typeface="Segoe UI"/>
              </a:rPr>
              <a:t>Al cerrar un bloque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Refuerza lo aprendido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Configurable como obligatoria u opcional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6459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6459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240280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8FBF16"/>
                </a:solidFill>
                <a:latin typeface="Segoe UI"/>
              </a:rPr>
              <a:t>Al terminar el curso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Decide la aprobacion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Debe superarse para obtener el certificado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03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PARAMETROS QUE SE CONFIGURAN EN CADA EVALUACION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69080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966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Nota minima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1B4A73"/>
                </a:solidFill>
                <a:latin typeface="Segoe UI"/>
              </a:rPr>
              <a:t>80 sobre 100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Debajo de ese valor no aprueba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4069080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416966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Intentos maximos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1B4A73"/>
                </a:solidFill>
                <a:latin typeface="Segoe UI"/>
              </a:rPr>
              <a:t>3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Al agotarlos debe intervenir KG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4069080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416966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Tiempo limite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1B4A73"/>
                </a:solidFill>
                <a:latin typeface="Segoe UI"/>
              </a:rPr>
              <a:t>30 minutos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Al llegar a cero se envia automaticamente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4069080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1" y="416966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Barajar preguntas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1B4A73"/>
                </a:solidFill>
                <a:latin typeface="Segoe UI"/>
              </a:rPr>
              <a:t>Activado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Cada intento presenta otro orden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120640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2122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Barajar opciones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1B4A73"/>
                </a:solidFill>
                <a:latin typeface="Segoe UI"/>
              </a:rPr>
              <a:t>Activado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Dificulta copiar respuestas entre companeros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2" y="5120640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9584" y="522122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Mostrar retroalimentacion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1B4A73"/>
                </a:solidFill>
                <a:latin typeface="Segoe UI"/>
              </a:rPr>
              <a:t>Activado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Explica por que la respuesta era correcta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5120640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522122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Mostrar respuesta correcta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1B4A73"/>
                </a:solidFill>
                <a:latin typeface="Segoe UI"/>
              </a:rPr>
              <a:t>Solo en la final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Se decide por evaluacion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5120640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1" y="522122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Banco de preguntas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1B4A73"/>
                </a:solidFill>
                <a:latin typeface="Segoe UI"/>
              </a:rPr>
              <a:t>Por curso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>
                <a:solidFill>
                  <a:srgbClr val="6B7C8C"/>
                </a:solidFill>
                <a:latin typeface="Segoe UI"/>
              </a:rPr>
              <a:t>Se reutiliza en varias evaluaciones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6236208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6345936"/>
            <a:ext cx="1060704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El banco cargado hoy es de EJEMPLO (6 preguntas). KG debe reemplazarlo por el banco oficial de cada curso.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 05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Como se calcula la NOTA de una evaluacion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Calificacion automatica en el servidor. El estudiante ve el resultado de inmediato.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8FBF16"/>
                </a:solidFill>
                <a:latin typeface="Segoe UI"/>
              </a:rPr>
              <a:t>FORMULA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NOTA  =  ( puntos obtenidos  /  puntos posibles )  ×  100          APRUEBA si  NOTA  ≥  nota minima del curso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97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EJEMPLO CON LA EVALUACION FINAL DE KG-PA-001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35808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1810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0A2D4D"/>
                </a:solidFill>
                <a:latin typeface="Segoe UI"/>
              </a:rPr>
              <a:t>Preguntas de la evaluacion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1089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204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0A2D4D"/>
                </a:solidFill>
                <a:latin typeface="Segoe UI"/>
              </a:rPr>
              <a:t>Valor de cada pregunta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5112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A2D4D"/>
                </a:solidFill>
                <a:latin typeface="Segoe UI"/>
              </a:rPr>
              <a:t>1 punto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227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0A2D4D"/>
                </a:solidFill>
                <a:latin typeface="Segoe UI"/>
              </a:rPr>
              <a:t>Puntos posibles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9136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42816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251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0A2D4D"/>
                </a:solidFill>
                <a:latin typeface="Segoe UI"/>
              </a:rPr>
              <a:t>Respuestas correctas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3159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45152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27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0A2D4D"/>
                </a:solidFill>
                <a:latin typeface="Segoe UI"/>
              </a:rPr>
              <a:t>Puntos obtenidos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71830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297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0A2D4D"/>
                </a:solidFill>
                <a:latin typeface="Segoe UI"/>
              </a:rPr>
              <a:t>Nota  =  (5 / 6) ×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120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A2D4D"/>
                </a:solidFill>
                <a:latin typeface="Segoe UI"/>
              </a:rPr>
              <a:t>83,3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449824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32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0A2D4D"/>
                </a:solidFill>
                <a:latin typeface="Segoe UI"/>
              </a:rPr>
              <a:t>Nota minima del curso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5229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A2D4D"/>
                </a:solidFill>
                <a:latin typeface="Segoe UI"/>
              </a:rPr>
              <a:t>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852160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934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Resultado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9253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APROBADO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697480"/>
            <a:ext cx="5230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REGLAS QUE APLICA EL SISTEMA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035808"/>
            <a:ext cx="5230368" cy="5029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3108960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Pregunta sin responder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Se califica como incorrecta. No penaliza doble.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602736"/>
            <a:ext cx="5230368" cy="5029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3675887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Redondeo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La nota se guarda con un decimal (por ejemplo 83,3).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169663"/>
            <a:ext cx="5230368" cy="5029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4242816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Diagnostica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Se registra la nota pero siempre queda como 'presentada'; no bloquea nada.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736592"/>
            <a:ext cx="5230368" cy="5029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4809744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Intentos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Se cuentan aunque se abandone. Al llegar al maximo sin aprobar, se bloquea.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303520"/>
            <a:ext cx="5230368" cy="5029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5376672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Si ya aprobo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No se exige mas; puede repasar sin afectar la nota obtenida.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870448"/>
            <a:ext cx="5230368" cy="5029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5943600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Historico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Cada intento queda guardado con fecha, duracion y respuesta a cada pregunta.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6382512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6492240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Al terminar, el estudiante ve pregunta por pregunta que respondio, si acerto y la explicacion pedagogica.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 06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Certificados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Se emiten solos cuando se cumple la regla de aprobacion. Nadie tiene que generarlos a mano.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QUE LLEVA IMPRESO EL CERTIFICADO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Nombre del titular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Congelado en el momento de la emision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965960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2029968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Numero de documento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Para identificar sin ambiguedad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532888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596896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Nombre del curso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Tal como estaba al aprobar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2532888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596896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Intensidad horaria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Las horas certificadas del curso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99815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63823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Calificacion final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La nota con la que aprobo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2" y="3099815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1296" y="3163823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Fecha de expedicion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Dia de cumplimiento de la regla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66744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730752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Vigencia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24 meses en los cursos de KG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3666744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3730752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Codigo unico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Formato KG-AAAA-XXXXXX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233672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297680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Codigo QR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Lleva a la pagina publica de verificacion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4233672"/>
            <a:ext cx="2651760" cy="49377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4297680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Firma autorizada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B7C8C"/>
                </a:solidFill>
                <a:latin typeface="Segoe UI"/>
              </a:rPr>
              <a:t>Katerine Guanarita, Directora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627632"/>
            <a:ext cx="5230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CICLO DE VIDA DEL CERTIFICADO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96596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206654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2066544"/>
            <a:ext cx="4270248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Emision automatica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Al cumplirse la regla de aprobacion.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69748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47104" y="279806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2" y="2798064"/>
            <a:ext cx="4270248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Descarga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El titular lo imprime o lo guarda como PDF en A4 horizontal.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42900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47104" y="352958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2" y="3529584"/>
            <a:ext cx="4270248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Verificacion publica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Cualquiera valida el codigo en /verificar sin iniciar sesion.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16052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47104" y="426110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2" y="4261104"/>
            <a:ext cx="4270248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Vencimiento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A los 24 meses cambia a 'vencido' automaticamente.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89204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47104" y="499262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9752" y="4992624"/>
            <a:ext cx="4270248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Revocacion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KG puede anularlo dejando el motivo registrado.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94360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6053328"/>
            <a:ext cx="10607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'Datos congelados' significa que si manana se edita el curso o cambia el nombre del trabajador, el certificado ya emitido conserva la informacion con la que fue expedido. Es lo que exige una auditoria.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MODULOS 07 A 09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El panel empresarial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Lo que usa talento humano del cliente para gestionar y demostrar la capacitacion.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132588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64792"/>
            <a:ext cx="50292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Estructura organizacional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6B7C8C"/>
                </a:solidFill>
                <a:latin typeface="Segoe UI"/>
              </a:rPr>
              <a:t>La empresa se organiza en areas, cargos y sedes. Cada trabajador se ubica en las tres dimensiones, y eso permite despues medir por area, por cargo o por sede.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64592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645920"/>
            <a:ext cx="82296" cy="132588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764792"/>
            <a:ext cx="50292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Alta de trabajadores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6B7C8C"/>
                </a:solidFill>
                <a:latin typeface="Segoe UI"/>
              </a:rPr>
              <a:t>Individual con un formulario, o masiva pegando una fila por persona con el formato nombres;apellidos;documento;correo;codigo. Los correos repetidos se omiten solos.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27248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127248"/>
            <a:ext cx="82296" cy="1325880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246120"/>
            <a:ext cx="50292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Asignacion de cursos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6B7C8C"/>
                </a:solidFill>
                <a:latin typeface="Segoe UI"/>
              </a:rPr>
              <a:t>Se elige el curso, se filtra por area, se seleccionan las personas, se fija la fecha limite y si es obligatorio. Todo el lote queda agrupado para auditoria.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127248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3127248"/>
            <a:ext cx="82296" cy="132588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246120"/>
            <a:ext cx="50292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Seguimiento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6B7C8C"/>
                </a:solidFill>
                <a:latin typeface="Segoe UI"/>
              </a:rPr>
              <a:t>Tabla filtrable por curso, area y estado. Responde en un clic quien no ha iniciado, quien va en progreso, quien termino y a quien se le vencio el plazo.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08576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608576"/>
            <a:ext cx="82296" cy="132588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727448"/>
            <a:ext cx="50292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Reportes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6B7C8C"/>
                </a:solidFill>
                <a:latin typeface="Segoe UI"/>
              </a:rPr>
              <a:t>Tres exportaciones a CSV listas para Excel: seguimiento, trabajadores y certificados.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4608576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4608576"/>
            <a:ext cx="82296" cy="1325880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4727448"/>
            <a:ext cx="50292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Indicadores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6B7C8C"/>
                </a:solidFill>
                <a:latin typeface="Segoe UI"/>
              </a:rPr>
              <a:t>Cumplimiento general, avance promedio, y desglose por sede y por cargo.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053328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6163056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Estados de una asignacion:  asignado  →  en progreso  →  completado.  Si pasa la fecha limite sin completarse, se muestra como vencido en rojo con los dias de atraso.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 09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Los reportes que puede descargar la empresa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Todos en CSV separado por punto y coma, listos para abrir en 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1298448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73936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2D4D"/>
                </a:solidFill>
                <a:latin typeface="Segoe UI"/>
              </a:rPr>
              <a:t>Seguimiento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B4A73"/>
                </a:solidFill>
                <a:latin typeface="Segoe UI"/>
              </a:rPr>
              <a:t>Una fila por asignacion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73936"/>
            <a:ext cx="8046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50" b="1">
                <a:solidFill>
                  <a:srgbClr val="1B4A73"/>
                </a:solidFill>
                <a:latin typeface="Segoe UI"/>
              </a:rPr>
              <a:t>Columnas: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880" b="0">
                <a:solidFill>
                  <a:srgbClr val="334455"/>
                </a:solidFill>
                <a:latin typeface="Segoe UI"/>
              </a:rPr>
              <a:t>Documento · Trabajador · Correo · Area · Cargo · Sede · Curso · Codigo · Obligatorio · Estado · Avance % · Nota final · Fecha limite · Inicio · Finalizacion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Es el reporte que pide un auditor o la ARL.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63240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63240"/>
            <a:ext cx="82296" cy="1298448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91256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2D4D"/>
                </a:solidFill>
                <a:latin typeface="Segoe UI"/>
              </a:rPr>
              <a:t>Trabajadores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B4A73"/>
                </a:solidFill>
                <a:latin typeface="Segoe UI"/>
              </a:rPr>
              <a:t>Una fila por persona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191256"/>
            <a:ext cx="8046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50" b="1">
                <a:solidFill>
                  <a:srgbClr val="1B4A73"/>
                </a:solidFill>
                <a:latin typeface="Segoe UI"/>
              </a:rPr>
              <a:t>Columnas: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880" b="0">
                <a:solidFill>
                  <a:srgbClr val="334455"/>
                </a:solidFill>
                <a:latin typeface="Segoe UI"/>
              </a:rPr>
              <a:t>Codigo · Nombres · Apellidos · Documento · Correo · Area · Cargo · Sede · Estado · Cursos asignados · Cursos completados · Avance promedio · Certificados · Ultimo acceso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Sirve para conciliar la nomina con la plataforma.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80560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480560"/>
            <a:ext cx="82296" cy="1298448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08576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2D4D"/>
                </a:solidFill>
                <a:latin typeface="Segoe UI"/>
              </a:rPr>
              <a:t>Certificados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B4A73"/>
                </a:solidFill>
                <a:latin typeface="Segoe UI"/>
              </a:rPr>
              <a:t>Una fila por certificado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608576"/>
            <a:ext cx="8046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50" b="1">
                <a:solidFill>
                  <a:srgbClr val="1B4A73"/>
                </a:solidFill>
                <a:latin typeface="Segoe UI"/>
              </a:rPr>
              <a:t>Columnas: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880" b="0">
                <a:solidFill>
                  <a:srgbClr val="334455"/>
                </a:solidFill>
                <a:latin typeface="Segoe UI"/>
              </a:rPr>
              <a:t>Codigo · Trabajador · Documento · Curso · Horas · Nota · Emitido · Vence · Estado · URL de verificacion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Evidencia formal de la formacion impartida.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94360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6053328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La exportacion a PDF con imagen corporativa y el envio programado por correo quedaron previstos para la Fase 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 10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Gamificacion: como funcionan los puntos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Sistema motivacional. Es independiente de la nota y NUNCA afecta la aprobacion ni el certificado.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COMO SE GANAN PUNTOS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12848"/>
            <a:ext cx="4882896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Completar una leccion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3042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B4A73"/>
                </a:solidFill>
                <a:latin typeface="Segoe UI"/>
              </a:rPr>
              <a:t>+10 puntos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61488"/>
            <a:ext cx="4882896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8036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Aprobar una evaluacion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8529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B4A73"/>
                </a:solidFill>
                <a:latin typeface="Segoe UI"/>
              </a:rPr>
              <a:t>+50 puntos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10128"/>
            <a:ext cx="4882896" cy="47548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2900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Completar un curso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40156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B4A73"/>
                </a:solidFill>
                <a:latin typeface="Segoe UI"/>
              </a:rPr>
              <a:t>+100 puntos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60020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EJEMPLO: UN CURSO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340864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17 lecciones ×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31343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FBF16"/>
                </a:solidFill>
                <a:latin typeface="Segoe UI"/>
              </a:rPr>
              <a:t>170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889504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1 evaluacion final aprobada × 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86207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FBF16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438144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1 curso completado × 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41071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FBF16"/>
                </a:solidFill>
                <a:latin typeface="Segoe UI"/>
              </a:rPr>
              <a:t>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3913631"/>
            <a:ext cx="4974336" cy="45720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86783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A2D4D"/>
                </a:solidFill>
                <a:latin typeface="Segoe UI"/>
              </a:rPr>
              <a:t>TOTAL DEL CURSO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95935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320 puntos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069080"/>
            <a:ext cx="54864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069080"/>
            <a:ext cx="82296" cy="1078992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4187952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Niveles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Cada 250 puntos se sube de nivel.  Nivel = (puntos ÷ 250) + 1.  Con 320 puntos el trabajador esta en nivel 2 y le faltan 180 para el nivel 3.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7648" y="4069080"/>
            <a:ext cx="54864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27648" y="4069080"/>
            <a:ext cx="82296" cy="1078992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187952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Racha de estudio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Cuenta los dias seguidos en que completo al menos una leccion. Si deja pasar un dia, la racha vuelve a 1, pero se conserva el registro de la racha mas larga.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276088"/>
            <a:ext cx="54864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276088"/>
            <a:ext cx="82296" cy="107899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394960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Ranking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Tabla con los cinco usuarios de mas puntos de la plataforma. El propio usuario se resalta como 'Usted'.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7648" y="5276088"/>
            <a:ext cx="54864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27648" y="5276088"/>
            <a:ext cx="82296" cy="1078992"/>
          </a:xfrm>
          <a:prstGeom prst="rect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5394960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Insignias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Hay 5 insignias definidas (Primer paso, Constante, Certificado obtenido, Brigadista KG, Nota perfecta). La entrega automatica queda para la Fase 2; hoy el catalogo esta creado y la insignia se puede otorgar.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473952"/>
            <a:ext cx="11064240" cy="31089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6583680"/>
            <a:ext cx="1060704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Los puntos no se restan nunca y no influyen en el certificado.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MODULOS 11 Y 12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Notificaciones, auditoria y seguridad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Los dos modulos que sostienen la operacion y la confianza en los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NOTIFICACIONES AUTOMATICAS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Bienvenida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939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Al crearse la cuenta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87168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603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Curso asignado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1518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Cuando la empresa entrega un curso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08375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2724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Recordatorio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3639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Curso pendiente sin iniciar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29583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48455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Proximo a vencer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759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Se acerca la fecha limite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50791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69663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Curso completado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7880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Felicitacion al terminar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7200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908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Certificado disponible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000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Con el enlace de descarga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093208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212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Recuperar contrasena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212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Enlace de restablecimiento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69280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779008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1">
                <a:solidFill>
                  <a:srgbClr val="0A2D4D"/>
                </a:solidFill>
                <a:latin typeface="Segoe UI"/>
              </a:rPr>
              <a:t>Hoy llegan a la campana dentro de la plataforma. El envio por correo se activa al configurar el proveedor SMTP.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627632"/>
            <a:ext cx="5230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AUDITORIA Y SEGURIDAD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96596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965960"/>
            <a:ext cx="73152" cy="658368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20574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Que se audita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Ingresos, creacion, edicion, publicacion, asignacion, revocacion y exportacion.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69748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697480"/>
            <a:ext cx="73152" cy="658368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0256" y="278892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Que guarda cada renglon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Actor, correo, accion, entidad, resumen, fecha, y el estado antes y despues.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42900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3429000"/>
            <a:ext cx="73152" cy="658368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6" y="352044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Contrasenas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Cifradas con bcrypt. Nunca se guardan ni se envian en texto plano.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16052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160520"/>
            <a:ext cx="73152" cy="658368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0256" y="4251959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Sesion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Token firmado en cookie que el navegador no expone a scripts. Caduca a las 8 horas.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89204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892040"/>
            <a:ext cx="73152" cy="658368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0256" y="4983479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Datos personales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Se registra la fecha en que la persona autorizo el tratamiento (Ley 1581 de 2012).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5623559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5623559"/>
            <a:ext cx="73152" cy="658368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0256" y="5714999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Trazabilidad academica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El avance y los intentos no se borran por una edicion administrativa.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VISION DE CONJUNTO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Recorrido completo de una capacitacion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Desde que la empresa decide capacitar hasta que puede demostrarlo ante un auditor.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352044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792224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KG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773936"/>
            <a:ext cx="384048" cy="3291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Crea y publica el curso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Estructura, contenidos, evaluaciones y reglas.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64208"/>
            <a:ext cx="352044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43984" y="1792224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EMPRESA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773936"/>
            <a:ext cx="384048" cy="3291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1945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Registra a sus trabajadores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Por area, cargo y sede.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664208"/>
            <a:ext cx="352044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5" y="1792224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EMPRESA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00231" y="1773936"/>
            <a:ext cx="384048" cy="3291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1945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Asigna el curso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Con fecha limite y caracter obligatorio.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081528"/>
            <a:ext cx="352044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209544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SISTEMA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38728" y="3191256"/>
            <a:ext cx="384048" cy="3291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6118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Notifica al trabajador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Aviso interno con el enlace directo.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081528"/>
            <a:ext cx="352044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43984" y="3209544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0A2D4D"/>
                </a:solidFill>
                <a:latin typeface="Segoe UI"/>
              </a:rPr>
              <a:t>TRABAJADOR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3191256"/>
            <a:ext cx="384048" cy="3291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36118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Estudia en el aula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El avance se guarda leccion a leccion.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3081528"/>
            <a:ext cx="352044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4735" y="3209544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0A2D4D"/>
                </a:solidFill>
                <a:latin typeface="Segoe UI"/>
              </a:rPr>
              <a:t>TRABAJADOR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00231" y="3191256"/>
            <a:ext cx="384048" cy="3291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5" y="36118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Presenta la evaluacion final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Calificacion automatica e inmediata.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98848"/>
            <a:ext cx="352044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3232" y="4626864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SISTEMA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38728" y="4608576"/>
            <a:ext cx="384048" cy="3291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0292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Emite el certificado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Codigo unico y QR verificable.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498848"/>
            <a:ext cx="352044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43984" y="4626864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EMPRESA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9480" y="4608576"/>
            <a:ext cx="384048" cy="3291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50292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Descarga la evidencia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Reporte CSV y certificados.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8431" y="4498848"/>
            <a:ext cx="352044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74735" y="4626864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AUDITOR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00231" y="4608576"/>
            <a:ext cx="384048" cy="3291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5" y="50292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Verifica el certificado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Escanea el QR sin necesidad de cuenta.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6144768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" y="6254496"/>
            <a:ext cx="1060704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Todo el recorrido queda registrado: cada paso deja fecha, responsable y evidencia descargable.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REFERENCIA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Glosario y estados del sistema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Vocabulario comun para hablar todos de lo mismo.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27632"/>
          <a:ext cx="5486399" cy="4133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372"/>
                <a:gridCol w="3707027"/>
              </a:tblGrid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Termino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Significado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Matricula (enrollment)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El vinculo entre una persona y un curso. Guarda el avance, la nota y las fechas.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Asignacion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La orden de la empresa para que un trabajador tome un curso. Tiene fecha limite.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Lote de asignacion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El grupo de asignaciones creadas de una sola vez. Sirve para auditar.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Intento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Cada vez que alguien envia una evaluacion. Se guardan todos, no solo el mejor.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Nota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Calificacion de 0 a 100 de una evaluacion. Decide la aprobacion.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Puntos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Marcador de gamificacion. No decide nada academico.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Codigo de verificacion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Identificador unico del certificado, formato KG-AAAA-XXXXXX.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Datos congelados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La informacion que queda fija en el certificado al emitirlo.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27648" y="1627632"/>
          <a:ext cx="5303520" cy="4133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272"/>
                <a:gridCol w="3889248"/>
              </a:tblGrid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Entidad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Estados posibles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Curso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borrador · revision · publicado · despublicado · archivado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Matricula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no iniciado · en progreso · completado · vencido · anulado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Asignacion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asignado · en progreso · completado · vencido · cancelado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Leccion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no iniciado · en progreso · completado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Intento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en curso · finalizado · anulado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Certificado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vigente · vencido · revocado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Usuario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activo · pendiente de activacion · inactivo · bloqueado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Empresa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activa · suspendida · inactiva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REFERENCIA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Que esta listo y que falta definir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Transparencia sobre el alcance entregado.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ENTREGADO Y FUNCIONANDO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2011679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Modelo de datos completo (44 tablas)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2377439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Acceso, roles, permisos y aislamiento por empresa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2743199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9747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Catalogo, ficha de curso y matricula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3108959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3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Aula virtual con progreso leccion a leccion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" y="3474719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2899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Constructor de cursos para cargar contenido sin programar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" y="3840479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9475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Evaluaciones con calificacion automatica y retroalimentacion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" y="4206240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Certificados automaticos con QR y verificacion publica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" y="4572000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Panel empresarial con asignacion masiva y seguimiento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" y="4937760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Reportes CSV y panel de administracion KG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Gamificacion de puntos, niveles y rachas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" y="5669280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334455"/>
                </a:solidFill>
                <a:latin typeface="Segoe UI"/>
              </a:rPr>
              <a:t>Auditoria de acciones relevantes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627632"/>
            <a:ext cx="5230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7A0C"/>
                </a:solidFill>
                <a:latin typeface="Segoe UI"/>
              </a:rPr>
              <a:t>PENDIENTE DE KG O DE FASE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965960"/>
            <a:ext cx="5230368" cy="60350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2048255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Banco oficial de preguntas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Las 6 preguntas cargadas son de ejemplo; KG debe entregar las definitivas.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642615"/>
            <a:ext cx="5230368" cy="60350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272491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Contenido audiovisual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Videos, PDF y recursos de Genially de los tres cursos.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319272"/>
            <a:ext cx="5230368" cy="60350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34015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Pasarela de pagos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Marcada POR DEFINIR en el esqueleto. Las tablas ya existen.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995928"/>
            <a:ext cx="5230368" cy="60350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40782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Proveedor de correo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Configurar SMTP para que las notificaciones salgan por email.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672584"/>
            <a:ext cx="5230368" cy="60350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4754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Entrega automatica de insignias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El catalogo existe; falta la regla que las otorga sola.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5349240"/>
            <a:ext cx="5230368" cy="60350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543153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Edicion de usuarios desde la interfaz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Hoy se administran por base de datos o seed.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27" y="777240"/>
            <a:ext cx="2834640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886200"/>
            <a:ext cx="94484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KG ACADEMY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1500" b="0">
                <a:solidFill>
                  <a:srgbClr val="8FBF16"/>
                </a:solidFill>
                <a:latin typeface="Segoe UI"/>
              </a:rPr>
              <a:t>Un manual para operar la plataforma sin depender del desarrollador.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5D5E5"/>
                </a:solidFill>
                <a:latin typeface="Segoe UI"/>
              </a:rPr>
              <a:t>KG GESTION INTEGRAL S.A.S.  ·  KATERINE GUANARITA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1207" y="5623560"/>
            <a:ext cx="5669280" cy="56692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2647" y="575157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8FBF16"/>
                </a:solidFill>
                <a:latin typeface="Segoe UI"/>
              </a:rPr>
              <a:t>Disenado y desarrollado por Diego Alejandro Hernandez Blanco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